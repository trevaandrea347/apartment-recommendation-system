
<file path=[Content_Types].xml><?xml version="1.0" encoding="utf-8"?>
<Types xmlns="http://schemas.openxmlformats.org/package/2006/content-types">
  <Default Extension="fntdata" ContentType="application/x-fontdata"/>
  <Default Extension="jpg" ContentType="image/jpeg"/>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Nunito"/>
      <p:regular r:id="rId28"/>
      <p:bold r:id="rId29"/>
      <p:italic r:id="rId30"/>
      <p:boldItalic r:id="rId31"/>
    </p:embeddedFont>
    <p:embeddedFont>
      <p:font typeface="Maven Pro"/>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3" Type="http://schemas.openxmlformats.org/officeDocument/2006/relationships/slide" Target="slides/slide7.xml"/><Relationship Id="rId18" Type="http://schemas.openxmlformats.org/officeDocument/2006/relationships/slide" Target="slides/slide12.xml"/><Relationship Id="rId21" Type="http://schemas.openxmlformats.org/officeDocument/2006/relationships/slide" Target="slides/slide15.xml"/><Relationship Id="rId3" Type="http://schemas.openxmlformats.org/officeDocument/2006/relationships/presProps" Target="presProps.xml"/><Relationship Id="rId34" Type="http://schemas.openxmlformats.org/officeDocument/2006/relationships/customXml" Target="../customXml/item1.xml"/><Relationship Id="rId25" Type="http://schemas.openxmlformats.org/officeDocument/2006/relationships/slide" Target="slides/slide19.xml"/><Relationship Id="rId7" Type="http://schemas.openxmlformats.org/officeDocument/2006/relationships/slide" Target="slides/slide1.xml"/><Relationship Id="rId33" Type="http://schemas.openxmlformats.org/officeDocument/2006/relationships/font" Target="fonts/MavenPro-bold.fntdata"/><Relationship Id="rId12" Type="http://schemas.openxmlformats.org/officeDocument/2006/relationships/slide" Target="slides/slide6.xml"/><Relationship Id="rId17" Type="http://schemas.openxmlformats.org/officeDocument/2006/relationships/slide" Target="slides/slide11.xml"/><Relationship Id="rId20" Type="http://schemas.openxmlformats.org/officeDocument/2006/relationships/slide" Target="slides/slide14.xml"/><Relationship Id="rId2" Type="http://schemas.openxmlformats.org/officeDocument/2006/relationships/viewProps" Target="viewProps.xml"/><Relationship Id="rId29" Type="http://schemas.openxmlformats.org/officeDocument/2006/relationships/font" Target="fonts/Nunito-bold.fntdata"/><Relationship Id="rId16" Type="http://schemas.openxmlformats.org/officeDocument/2006/relationships/slide" Target="slides/slide10.xml"/><Relationship Id="rId24" Type="http://schemas.openxmlformats.org/officeDocument/2006/relationships/slide" Target="slides/slide18.xml"/><Relationship Id="rId1" Type="http://schemas.openxmlformats.org/officeDocument/2006/relationships/theme" Target="theme/theme1.xml"/><Relationship Id="rId6" Type="http://schemas.openxmlformats.org/officeDocument/2006/relationships/notesMaster" Target="notesMasters/notesMaster1.xml"/><Relationship Id="rId11" Type="http://schemas.openxmlformats.org/officeDocument/2006/relationships/slide" Target="slides/slide5.xml"/><Relationship Id="rId32" Type="http://schemas.openxmlformats.org/officeDocument/2006/relationships/font" Target="fonts/MavenPro-regular.fntdata"/><Relationship Id="rId23" Type="http://schemas.openxmlformats.org/officeDocument/2006/relationships/slide" Target="slides/slide17.xml"/><Relationship Id="rId28" Type="http://schemas.openxmlformats.org/officeDocument/2006/relationships/font" Target="fonts/Nunito-regular.fntdata"/><Relationship Id="rId5" Type="http://schemas.openxmlformats.org/officeDocument/2006/relationships/slideMaster" Target="slideMasters/slideMaster2.xml"/><Relationship Id="rId15" Type="http://schemas.openxmlformats.org/officeDocument/2006/relationships/slide" Target="slides/slide9.xml"/><Relationship Id="rId36" Type="http://schemas.openxmlformats.org/officeDocument/2006/relationships/customXml" Target="../customXml/item3.xml"/><Relationship Id="rId31" Type="http://schemas.openxmlformats.org/officeDocument/2006/relationships/font" Target="fonts/Nunito-boldItalic.fntdata"/><Relationship Id="rId10" Type="http://schemas.openxmlformats.org/officeDocument/2006/relationships/slide" Target="slides/slide4.xml"/><Relationship Id="rId19" Type="http://schemas.openxmlformats.org/officeDocument/2006/relationships/slide" Target="slides/slide13.xml"/><Relationship Id="rId22" Type="http://schemas.openxmlformats.org/officeDocument/2006/relationships/slide" Target="slides/slide16.xml"/><Relationship Id="rId4" Type="http://schemas.openxmlformats.org/officeDocument/2006/relationships/slideMaster" Target="slideMasters/slideMaster1.xml"/><Relationship Id="rId9" Type="http://schemas.openxmlformats.org/officeDocument/2006/relationships/slide" Target="slides/slide3.xml"/><Relationship Id="rId27" Type="http://schemas.openxmlformats.org/officeDocument/2006/relationships/slide" Target="slides/slide21.xml"/><Relationship Id="rId30" Type="http://schemas.openxmlformats.org/officeDocument/2006/relationships/font" Target="fonts/Nunito-italic.fntdata"/><Relationship Id="rId14" Type="http://schemas.openxmlformats.org/officeDocument/2006/relationships/slide" Target="slides/slide8.xml"/><Relationship Id="rId35" Type="http://schemas.openxmlformats.org/officeDocument/2006/relationships/customXml" Target="../customXml/item2.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f5c58346df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f5c58346df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project uses a Genetic Algorithm to recommend apartments around the University of Tsukuba based on the user's requirements."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f5c58346df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f5c58346df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Instead of comparing every apartment manually, our system automatically ranks them."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5c58346df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f5c58346df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Explain each step in one sentence:</a:t>
            </a:r>
            <a:endParaRPr/>
          </a:p>
          <a:p>
            <a:pPr indent="-298450" lvl="0" marL="457200" rtl="0" algn="l">
              <a:lnSpc>
                <a:spcPct val="115000"/>
              </a:lnSpc>
              <a:spcBef>
                <a:spcPts val="1200"/>
              </a:spcBef>
              <a:spcAft>
                <a:spcPts val="0"/>
              </a:spcAft>
              <a:buClr>
                <a:schemeClr val="dk1"/>
              </a:buClr>
              <a:buSzPts val="1100"/>
              <a:buChar char="●"/>
            </a:pPr>
            <a:r>
              <a:rPr lang="en"/>
              <a:t>Read the apartment dataset.</a:t>
            </a:r>
            <a:endParaRPr/>
          </a:p>
          <a:p>
            <a:pPr indent="-298450" lvl="0" marL="457200" rtl="0" algn="l">
              <a:lnSpc>
                <a:spcPct val="115000"/>
              </a:lnSpc>
              <a:spcBef>
                <a:spcPts val="0"/>
              </a:spcBef>
              <a:spcAft>
                <a:spcPts val="0"/>
              </a:spcAft>
              <a:buClr>
                <a:schemeClr val="dk1"/>
              </a:buClr>
              <a:buSzPts val="1100"/>
              <a:buChar char="●"/>
            </a:pPr>
            <a:r>
              <a:rPr lang="en"/>
              <a:t>User enters preferences.</a:t>
            </a:r>
            <a:endParaRPr/>
          </a:p>
          <a:p>
            <a:pPr indent="-298450" lvl="0" marL="457200" rtl="0" algn="l">
              <a:lnSpc>
                <a:spcPct val="115000"/>
              </a:lnSpc>
              <a:spcBef>
                <a:spcPts val="0"/>
              </a:spcBef>
              <a:spcAft>
                <a:spcPts val="0"/>
              </a:spcAft>
              <a:buClr>
                <a:schemeClr val="dk1"/>
              </a:buClr>
              <a:buSzPts val="1100"/>
              <a:buChar char="●"/>
            </a:pPr>
            <a:r>
              <a:rPr lang="en"/>
              <a:t>Remove apartments that don't satisfy the budget or room size.</a:t>
            </a:r>
            <a:endParaRPr/>
          </a:p>
          <a:p>
            <a:pPr indent="-298450" lvl="0" marL="457200" rtl="0" algn="l">
              <a:lnSpc>
                <a:spcPct val="115000"/>
              </a:lnSpc>
              <a:spcBef>
                <a:spcPts val="0"/>
              </a:spcBef>
              <a:spcAft>
                <a:spcPts val="0"/>
              </a:spcAft>
              <a:buClr>
                <a:schemeClr val="dk1"/>
              </a:buClr>
              <a:buSzPts val="1100"/>
              <a:buChar char="●"/>
            </a:pPr>
            <a:r>
              <a:rPr lang="en"/>
              <a:t>Calculate scores for each criterion.</a:t>
            </a:r>
            <a:endParaRPr/>
          </a:p>
          <a:p>
            <a:pPr indent="-298450" lvl="0" marL="457200" rtl="0" algn="l">
              <a:lnSpc>
                <a:spcPct val="115000"/>
              </a:lnSpc>
              <a:spcBef>
                <a:spcPts val="0"/>
              </a:spcBef>
              <a:spcAft>
                <a:spcPts val="0"/>
              </a:spcAft>
              <a:buClr>
                <a:schemeClr val="dk1"/>
              </a:buClr>
              <a:buSzPts val="1100"/>
              <a:buChar char="●"/>
            </a:pPr>
            <a:r>
              <a:rPr lang="en"/>
              <a:t>Calculate one overall fitness score.</a:t>
            </a:r>
            <a:endParaRPr/>
          </a:p>
          <a:p>
            <a:pPr indent="-298450" lvl="0" marL="457200" rtl="0" algn="l">
              <a:lnSpc>
                <a:spcPct val="115000"/>
              </a:lnSpc>
              <a:spcBef>
                <a:spcPts val="0"/>
              </a:spcBef>
              <a:spcAft>
                <a:spcPts val="0"/>
              </a:spcAft>
              <a:buClr>
                <a:schemeClr val="dk1"/>
              </a:buClr>
              <a:buSzPts val="1100"/>
              <a:buChar char="●"/>
            </a:pPr>
            <a:r>
              <a:rPr lang="en"/>
              <a:t>Use the Genetic Algorithm to search for the best apartments.</a:t>
            </a:r>
            <a:endParaRPr/>
          </a:p>
          <a:p>
            <a:pPr indent="-298450" lvl="0" marL="457200" rtl="0" algn="l">
              <a:lnSpc>
                <a:spcPct val="115000"/>
              </a:lnSpc>
              <a:spcBef>
                <a:spcPts val="0"/>
              </a:spcBef>
              <a:spcAft>
                <a:spcPts val="0"/>
              </a:spcAft>
              <a:buClr>
                <a:schemeClr val="dk1"/>
              </a:buClr>
              <a:buSzPts val="1100"/>
              <a:buChar char="●"/>
            </a:pPr>
            <a:r>
              <a:rPr lang="en"/>
              <a:t>Display the ranked results.</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f5c58346d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f5c58346d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5c71ad15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5c71ad15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f5c71ad15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f5c71ad15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f5c71ad1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f5c71ad1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f5c71ad15a_3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f5c71ad15a_3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f5c71ad15a_3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f5c71ad15a_3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f5c71ad15a_3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f5c71ad15a_3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f5c71ad15a_3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f5c71ad15a_3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5c71ad15a_3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f5c71ad15a_3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f5c71ad15a_3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f5c71ad15a_3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f5c71ad15a_3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f5c71ad15a_3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f5c71ad15a_3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f5c71ad15a_3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f5c71ad15a_3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f5c71ad15a_3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f5c71ad15a_3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f5c71ad15a_3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f5c71ad15a_3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f5c71ad15a_3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f5c71ad15a_3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f5c71ad15a_3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5c71ad15a_4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f5c71ad15a_4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4" name="Shape 27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med">
        <p14:prism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suumo.jp/jj/chintai/ichiran/FR301FC001/?ar=030&amp;bs=040&amp;ta=08&amp;sc=08220&amp;sngz=&amp;po1=12" TargetMode="Externa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https://colab.research.google.com/drive/1Y9ou_zn22wArYpbZp9lkU3jabEshXBeo?usp=shar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20.png"/><Relationship Id="rId5" Type="http://schemas.openxmlformats.org/officeDocument/2006/relationships/hyperlink" Target="https://www.tutorialspoint.com/genetic_algorithms/genetic_algorithms_parent_selection.ht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2.png"/><Relationship Id="rId5" Type="http://schemas.openxmlformats.org/officeDocument/2006/relationships/hyperlink" Target="https://www.tutorialspoint.com/genetic_algorithms/genetic_algorithms_mutation.ht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27.png"/><Relationship Id="rId5" Type="http://schemas.openxmlformats.org/officeDocument/2006/relationships/hyperlink" Target="https://www.tutorialspoint.com/genetic_algorithms/genetic_algorithms_survivor_selection.ht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Beautify as image" id="279" name="Google Shape;279;p15"/>
          <p:cNvPicPr preferRelativeResize="0"/>
          <p:nvPr/>
        </p:nvPicPr>
        <p:blipFill>
          <a:blip r:embed="rId3">
            <a:alphaModFix/>
          </a:blip>
          <a:stretch>
            <a:fillRect/>
          </a:stretch>
        </p:blipFill>
        <p:spPr>
          <a:xfrm>
            <a:off x="-35700" y="0"/>
            <a:ext cx="9210675" cy="5143500"/>
          </a:xfrm>
          <a:prstGeom prst="rect">
            <a:avLst/>
          </a:prstGeom>
          <a:noFill/>
          <a:ln>
            <a:noFill/>
          </a:ln>
        </p:spPr>
      </p:pic>
      <p:pic>
        <p:nvPicPr>
          <p:cNvPr id="280" name="Google Shape;280;p15"/>
          <p:cNvPicPr preferRelativeResize="0"/>
          <p:nvPr/>
        </p:nvPicPr>
        <p:blipFill>
          <a:blip r:embed="rId4">
            <a:alphaModFix/>
          </a:blip>
          <a:stretch>
            <a:fillRect/>
          </a:stretch>
        </p:blipFill>
        <p:spPr>
          <a:xfrm>
            <a:off x="3772300" y="1910550"/>
            <a:ext cx="1950075" cy="1462550"/>
          </a:xfrm>
          <a:prstGeom prst="rect">
            <a:avLst/>
          </a:prstGeom>
          <a:noFill/>
          <a:ln>
            <a:noFill/>
          </a:ln>
        </p:spPr>
      </p:pic>
      <p:pic>
        <p:nvPicPr>
          <p:cNvPr id="281" name="Google Shape;281;p15"/>
          <p:cNvPicPr preferRelativeResize="0"/>
          <p:nvPr/>
        </p:nvPicPr>
        <p:blipFill>
          <a:blip r:embed="rId5">
            <a:alphaModFix/>
          </a:blip>
          <a:stretch>
            <a:fillRect/>
          </a:stretch>
        </p:blipFill>
        <p:spPr>
          <a:xfrm>
            <a:off x="85200" y="1871075"/>
            <a:ext cx="1785275" cy="268782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6"/>
          <p:cNvSpPr txBox="1"/>
          <p:nvPr>
            <p:ph type="ctrTitle"/>
          </p:nvPr>
        </p:nvSpPr>
        <p:spPr>
          <a:xfrm>
            <a:off x="414425" y="351475"/>
            <a:ext cx="7065600" cy="9255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5400"/>
              <a:t>Objective</a:t>
            </a:r>
            <a:endParaRPr sz="5400"/>
          </a:p>
        </p:txBody>
      </p:sp>
      <p:sp>
        <p:nvSpPr>
          <p:cNvPr id="287" name="Google Shape;287;p16"/>
          <p:cNvSpPr txBox="1"/>
          <p:nvPr>
            <p:ph idx="1" type="subTitle"/>
          </p:nvPr>
        </p:nvSpPr>
        <p:spPr>
          <a:xfrm>
            <a:off x="-3027175" y="3148300"/>
            <a:ext cx="8520600" cy="792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Team members</a:t>
            </a:r>
            <a:endParaRPr/>
          </a:p>
          <a:p>
            <a:pPr indent="0" lvl="0" marL="0" rtl="0" algn="l">
              <a:spcBef>
                <a:spcPts val="0"/>
              </a:spcBef>
              <a:spcAft>
                <a:spcPts val="0"/>
              </a:spcAft>
              <a:buNone/>
            </a:pPr>
            <a:r>
              <a:rPr lang="en"/>
              <a:t>Yash Juriani</a:t>
            </a:r>
            <a:endParaRPr/>
          </a:p>
          <a:p>
            <a:pPr indent="0" lvl="0" marL="0" rtl="0" algn="l">
              <a:spcBef>
                <a:spcPts val="0"/>
              </a:spcBef>
              <a:spcAft>
                <a:spcPts val="0"/>
              </a:spcAft>
              <a:buNone/>
            </a:pPr>
            <a:r>
              <a:rPr lang="en"/>
              <a:t>Andrea Trevanna</a:t>
            </a:r>
            <a:endParaRPr/>
          </a:p>
        </p:txBody>
      </p:sp>
      <p:sp>
        <p:nvSpPr>
          <p:cNvPr id="288" name="Google Shape;288;p16"/>
          <p:cNvSpPr txBox="1"/>
          <p:nvPr/>
        </p:nvSpPr>
        <p:spPr>
          <a:xfrm>
            <a:off x="327725" y="1313250"/>
            <a:ext cx="7405200" cy="30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Nunito"/>
                <a:ea typeface="Nunito"/>
                <a:cs typeface="Nunito"/>
                <a:sym typeface="Nunito"/>
              </a:rPr>
              <a:t>Develop an apartment recommendation system that recommends the best apartment based on user preferences</a:t>
            </a:r>
            <a:endParaRPr sz="1800">
              <a:solidFill>
                <a:schemeClr val="dk2"/>
              </a:solidFill>
              <a:latin typeface="Nunito"/>
              <a:ea typeface="Nunito"/>
              <a:cs typeface="Nunito"/>
              <a:sym typeface="Nunito"/>
            </a:endParaRPr>
          </a:p>
        </p:txBody>
      </p:sp>
      <p:pic>
        <p:nvPicPr>
          <p:cNvPr id="289" name="Google Shape;289;p16"/>
          <p:cNvPicPr preferRelativeResize="0"/>
          <p:nvPr/>
        </p:nvPicPr>
        <p:blipFill rotWithShape="1">
          <a:blip r:embed="rId3">
            <a:alphaModFix/>
          </a:blip>
          <a:srcRect b="-40972" l="-63617" r="3694" t="-18951"/>
          <a:stretch/>
        </p:blipFill>
        <p:spPr>
          <a:xfrm>
            <a:off x="1118177" y="2258725"/>
            <a:ext cx="1837674" cy="2571750"/>
          </a:xfrm>
          <a:prstGeom prst="rect">
            <a:avLst/>
          </a:prstGeom>
          <a:noFill/>
          <a:ln>
            <a:noFill/>
          </a:ln>
        </p:spPr>
      </p:pic>
      <p:pic>
        <p:nvPicPr>
          <p:cNvPr id="290" name="Google Shape;290;p16"/>
          <p:cNvPicPr preferRelativeResize="0"/>
          <p:nvPr/>
        </p:nvPicPr>
        <p:blipFill>
          <a:blip r:embed="rId4">
            <a:alphaModFix/>
          </a:blip>
          <a:stretch>
            <a:fillRect/>
          </a:stretch>
        </p:blipFill>
        <p:spPr>
          <a:xfrm>
            <a:off x="3653166" y="2215335"/>
            <a:ext cx="1837675" cy="2658515"/>
          </a:xfrm>
          <a:prstGeom prst="rect">
            <a:avLst/>
          </a:prstGeom>
          <a:noFill/>
          <a:ln>
            <a:noFill/>
          </a:ln>
        </p:spPr>
      </p:pic>
      <p:pic>
        <p:nvPicPr>
          <p:cNvPr id="291" name="Google Shape;291;p16"/>
          <p:cNvPicPr preferRelativeResize="0"/>
          <p:nvPr/>
        </p:nvPicPr>
        <p:blipFill>
          <a:blip r:embed="rId5">
            <a:alphaModFix/>
          </a:blip>
          <a:stretch>
            <a:fillRect/>
          </a:stretch>
        </p:blipFill>
        <p:spPr>
          <a:xfrm>
            <a:off x="6188175" y="2078844"/>
            <a:ext cx="2681900" cy="10548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7"/>
          <p:cNvSpPr txBox="1"/>
          <p:nvPr>
            <p:ph type="ctrTitle"/>
          </p:nvPr>
        </p:nvSpPr>
        <p:spPr>
          <a:xfrm>
            <a:off x="316500" y="1454388"/>
            <a:ext cx="4255500" cy="1872900"/>
          </a:xfrm>
          <a:prstGeom prst="rect">
            <a:avLst/>
          </a:prstGeom>
        </p:spPr>
        <p:txBody>
          <a:bodyPr anchorCtr="0" anchor="ctr" bIns="91425" lIns="91425" spcFirstLastPara="1" rIns="91425" wrap="square" tIns="91425">
            <a:normAutofit fontScale="90000"/>
          </a:bodyPr>
          <a:lstStyle/>
          <a:p>
            <a:pPr indent="0" lvl="0" marL="0" rtl="0" algn="l">
              <a:lnSpc>
                <a:spcPct val="115000"/>
              </a:lnSpc>
              <a:spcBef>
                <a:spcPts val="1800"/>
              </a:spcBef>
              <a:spcAft>
                <a:spcPts val="0"/>
              </a:spcAft>
              <a:buNone/>
            </a:pPr>
            <a:r>
              <a:rPr lang="en" sz="2478">
                <a:solidFill>
                  <a:srgbClr val="000000"/>
                </a:solidFill>
                <a:latin typeface="Arial"/>
                <a:ea typeface="Arial"/>
                <a:cs typeface="Arial"/>
                <a:sym typeface="Arial"/>
              </a:rPr>
              <a:t>Problem</a:t>
            </a:r>
            <a:endParaRPr sz="2478">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0" lang="en" sz="2211">
                <a:solidFill>
                  <a:srgbClr val="000000"/>
                </a:solidFill>
                <a:latin typeface="Arial"/>
                <a:ea typeface="Arial"/>
                <a:cs typeface="Arial"/>
                <a:sym typeface="Arial"/>
              </a:rPr>
              <a:t>Finding an apartment requires comparing many factors:</a:t>
            </a:r>
            <a:endParaRPr b="0" sz="2211">
              <a:solidFill>
                <a:srgbClr val="000000"/>
              </a:solidFill>
              <a:latin typeface="Arial"/>
              <a:ea typeface="Arial"/>
              <a:cs typeface="Arial"/>
              <a:sym typeface="Arial"/>
            </a:endParaRPr>
          </a:p>
          <a:p>
            <a:pPr indent="-354965" lvl="0" marL="457200" rtl="0" algn="l">
              <a:lnSpc>
                <a:spcPct val="115000"/>
              </a:lnSpc>
              <a:spcBef>
                <a:spcPts val="1200"/>
              </a:spcBef>
              <a:spcAft>
                <a:spcPts val="0"/>
              </a:spcAft>
              <a:buClr>
                <a:srgbClr val="000000"/>
              </a:buClr>
              <a:buSzPct val="100000"/>
              <a:buFont typeface="Arial"/>
              <a:buChar char="●"/>
            </a:pPr>
            <a:r>
              <a:rPr lang="en" sz="2211">
                <a:solidFill>
                  <a:srgbClr val="000000"/>
                </a:solidFill>
                <a:latin typeface="Arial"/>
                <a:ea typeface="Arial"/>
                <a:cs typeface="Arial"/>
                <a:sym typeface="Arial"/>
              </a:rPr>
              <a:t>💴 Rent</a:t>
            </a:r>
            <a:endParaRPr sz="2211">
              <a:solidFill>
                <a:srgbClr val="000000"/>
              </a:solidFill>
              <a:latin typeface="Arial"/>
              <a:ea typeface="Arial"/>
              <a:cs typeface="Arial"/>
              <a:sym typeface="Arial"/>
            </a:endParaRPr>
          </a:p>
          <a:p>
            <a:pPr indent="-354965" lvl="0" marL="457200" rtl="0" algn="l">
              <a:lnSpc>
                <a:spcPct val="115000"/>
              </a:lnSpc>
              <a:spcBef>
                <a:spcPts val="0"/>
              </a:spcBef>
              <a:spcAft>
                <a:spcPts val="0"/>
              </a:spcAft>
              <a:buClr>
                <a:srgbClr val="000000"/>
              </a:buClr>
              <a:buSzPct val="100000"/>
              <a:buFont typeface="Arial"/>
              <a:buChar char="●"/>
            </a:pPr>
            <a:r>
              <a:rPr lang="en" sz="2211">
                <a:solidFill>
                  <a:srgbClr val="000000"/>
                </a:solidFill>
                <a:latin typeface="Arial"/>
                <a:ea typeface="Arial"/>
                <a:cs typeface="Arial"/>
                <a:sym typeface="Arial"/>
              </a:rPr>
              <a:t>📐 Room size</a:t>
            </a:r>
            <a:endParaRPr sz="2211">
              <a:solidFill>
                <a:srgbClr val="000000"/>
              </a:solidFill>
              <a:latin typeface="Arial"/>
              <a:ea typeface="Arial"/>
              <a:cs typeface="Arial"/>
              <a:sym typeface="Arial"/>
            </a:endParaRPr>
          </a:p>
          <a:p>
            <a:pPr indent="-354965" lvl="0" marL="457200" rtl="0" algn="l">
              <a:lnSpc>
                <a:spcPct val="115000"/>
              </a:lnSpc>
              <a:spcBef>
                <a:spcPts val="0"/>
              </a:spcBef>
              <a:spcAft>
                <a:spcPts val="0"/>
              </a:spcAft>
              <a:buClr>
                <a:srgbClr val="000000"/>
              </a:buClr>
              <a:buSzPct val="100000"/>
              <a:buFont typeface="Arial"/>
              <a:buChar char="●"/>
            </a:pPr>
            <a:r>
              <a:rPr lang="en" sz="2211">
                <a:solidFill>
                  <a:srgbClr val="000000"/>
                </a:solidFill>
                <a:latin typeface="Arial"/>
                <a:ea typeface="Arial"/>
                <a:cs typeface="Arial"/>
                <a:sym typeface="Arial"/>
              </a:rPr>
              <a:t>🏫 Distance to University</a:t>
            </a:r>
            <a:endParaRPr sz="2211">
              <a:solidFill>
                <a:srgbClr val="000000"/>
              </a:solidFill>
              <a:latin typeface="Arial"/>
              <a:ea typeface="Arial"/>
              <a:cs typeface="Arial"/>
              <a:sym typeface="Arial"/>
            </a:endParaRPr>
          </a:p>
          <a:p>
            <a:pPr indent="-354965" lvl="0" marL="457200" rtl="0" algn="l">
              <a:lnSpc>
                <a:spcPct val="115000"/>
              </a:lnSpc>
              <a:spcBef>
                <a:spcPts val="0"/>
              </a:spcBef>
              <a:spcAft>
                <a:spcPts val="0"/>
              </a:spcAft>
              <a:buClr>
                <a:srgbClr val="000000"/>
              </a:buClr>
              <a:buSzPct val="100000"/>
              <a:buFont typeface="Arial"/>
              <a:buChar char="●"/>
            </a:pPr>
            <a:r>
              <a:rPr lang="en" sz="2211">
                <a:solidFill>
                  <a:srgbClr val="000000"/>
                </a:solidFill>
                <a:latin typeface="Arial"/>
                <a:ea typeface="Arial"/>
                <a:cs typeface="Arial"/>
                <a:sym typeface="Arial"/>
              </a:rPr>
              <a:t>🚉 Distance to Tsukuba Station</a:t>
            </a:r>
            <a:endParaRPr sz="2211">
              <a:solidFill>
                <a:srgbClr val="000000"/>
              </a:solidFill>
              <a:latin typeface="Arial"/>
              <a:ea typeface="Arial"/>
              <a:cs typeface="Arial"/>
              <a:sym typeface="Arial"/>
            </a:endParaRPr>
          </a:p>
          <a:p>
            <a:pPr indent="-354965" lvl="0" marL="457200" rtl="0" algn="l">
              <a:lnSpc>
                <a:spcPct val="115000"/>
              </a:lnSpc>
              <a:spcBef>
                <a:spcPts val="0"/>
              </a:spcBef>
              <a:spcAft>
                <a:spcPts val="0"/>
              </a:spcAft>
              <a:buClr>
                <a:srgbClr val="000000"/>
              </a:buClr>
              <a:buSzPct val="100000"/>
              <a:buFont typeface="Arial"/>
              <a:buChar char="●"/>
            </a:pPr>
            <a:r>
              <a:rPr lang="en" sz="2211">
                <a:solidFill>
                  <a:srgbClr val="000000"/>
                </a:solidFill>
                <a:latin typeface="Arial"/>
                <a:ea typeface="Arial"/>
                <a:cs typeface="Arial"/>
                <a:sym typeface="Arial"/>
              </a:rPr>
              <a:t>🛒 Distance to supermarket</a:t>
            </a:r>
            <a:endParaRPr sz="2211">
              <a:solidFill>
                <a:srgbClr val="000000"/>
              </a:solidFill>
              <a:latin typeface="Arial"/>
              <a:ea typeface="Arial"/>
              <a:cs typeface="Arial"/>
              <a:sym typeface="Arial"/>
            </a:endParaRPr>
          </a:p>
          <a:p>
            <a:pPr indent="-354965" lvl="0" marL="457200" rtl="0" algn="l">
              <a:lnSpc>
                <a:spcPct val="115000"/>
              </a:lnSpc>
              <a:spcBef>
                <a:spcPts val="0"/>
              </a:spcBef>
              <a:spcAft>
                <a:spcPts val="0"/>
              </a:spcAft>
              <a:buClr>
                <a:srgbClr val="000000"/>
              </a:buClr>
              <a:buSzPct val="100000"/>
              <a:buFont typeface="Arial"/>
              <a:buChar char="●"/>
            </a:pPr>
            <a:r>
              <a:rPr lang="en" sz="2211">
                <a:solidFill>
                  <a:srgbClr val="000000"/>
                </a:solidFill>
                <a:latin typeface="Arial"/>
                <a:ea typeface="Arial"/>
                <a:cs typeface="Arial"/>
                <a:sym typeface="Arial"/>
              </a:rPr>
              <a:t>🏢 Building age</a:t>
            </a:r>
            <a:r>
              <a:rPr b="0" lang="en" sz="2211">
                <a:solidFill>
                  <a:srgbClr val="000000"/>
                </a:solidFill>
                <a:latin typeface="Arial"/>
                <a:ea typeface="Arial"/>
                <a:cs typeface="Arial"/>
                <a:sym typeface="Arial"/>
              </a:rPr>
              <a:t>  </a:t>
            </a:r>
            <a:endParaRPr b="0" sz="2211">
              <a:solidFill>
                <a:srgbClr val="000000"/>
              </a:solidFill>
              <a:latin typeface="Arial"/>
              <a:ea typeface="Arial"/>
              <a:cs typeface="Arial"/>
              <a:sym typeface="Arial"/>
            </a:endParaRPr>
          </a:p>
          <a:p>
            <a:pPr indent="0" lvl="0" marL="0" rtl="0" algn="l">
              <a:spcBef>
                <a:spcPts val="1200"/>
              </a:spcBef>
              <a:spcAft>
                <a:spcPts val="0"/>
              </a:spcAft>
              <a:buNone/>
            </a:pPr>
            <a:r>
              <a:rPr lang="en" sz="2400"/>
              <a:t>                                            </a:t>
            </a:r>
            <a:endParaRPr sz="2400"/>
          </a:p>
        </p:txBody>
      </p:sp>
      <p:sp>
        <p:nvSpPr>
          <p:cNvPr id="297" name="Google Shape;297;p17"/>
          <p:cNvSpPr txBox="1"/>
          <p:nvPr>
            <p:ph type="ctrTitle"/>
          </p:nvPr>
        </p:nvSpPr>
        <p:spPr>
          <a:xfrm>
            <a:off x="4572000" y="1885200"/>
            <a:ext cx="4464600" cy="3006600"/>
          </a:xfrm>
          <a:prstGeom prst="rect">
            <a:avLst/>
          </a:prstGeom>
        </p:spPr>
        <p:txBody>
          <a:bodyPr anchorCtr="0" anchor="ctr" bIns="91425" lIns="91425" spcFirstLastPara="1" rIns="91425" wrap="square" tIns="91425">
            <a:normAutofit fontScale="90000"/>
          </a:bodyPr>
          <a:lstStyle/>
          <a:p>
            <a:pPr indent="0" lvl="0" marL="0" rtl="0" algn="l">
              <a:lnSpc>
                <a:spcPct val="115000"/>
              </a:lnSpc>
              <a:spcBef>
                <a:spcPts val="1800"/>
              </a:spcBef>
              <a:spcAft>
                <a:spcPts val="0"/>
              </a:spcAft>
              <a:buNone/>
            </a:pPr>
            <a:r>
              <a:rPr lang="en" sz="1700">
                <a:solidFill>
                  <a:srgbClr val="000000"/>
                </a:solidFill>
                <a:latin typeface="Arial"/>
                <a:ea typeface="Arial"/>
                <a:cs typeface="Arial"/>
                <a:sym typeface="Arial"/>
              </a:rPr>
              <a:t>Dataset</a:t>
            </a:r>
            <a:endParaRPr sz="1700">
              <a:solidFill>
                <a:srgbClr val="000000"/>
              </a:solidFill>
              <a:latin typeface="Arial"/>
              <a:ea typeface="Arial"/>
              <a:cs typeface="Arial"/>
              <a:sym typeface="Arial"/>
            </a:endParaRPr>
          </a:p>
          <a:p>
            <a:pPr indent="0" lvl="0" marL="0" rtl="0" algn="l">
              <a:spcBef>
                <a:spcPts val="400"/>
              </a:spcBef>
              <a:spcAft>
                <a:spcPts val="0"/>
              </a:spcAft>
              <a:buNone/>
            </a:pPr>
            <a:r>
              <a:rPr lang="en" sz="1250"/>
              <a:t>72 real apartment listings from </a:t>
            </a:r>
            <a:endParaRPr sz="1250"/>
          </a:p>
          <a:p>
            <a:pPr indent="0" lvl="0" marL="0" rtl="0" algn="l">
              <a:spcBef>
                <a:spcPts val="0"/>
              </a:spcBef>
              <a:spcAft>
                <a:spcPts val="0"/>
              </a:spcAft>
              <a:buNone/>
            </a:pPr>
            <a:r>
              <a:rPr b="0" lang="en" sz="1100" u="sng">
                <a:solidFill>
                  <a:schemeClr val="hlink"/>
                </a:solidFill>
                <a:latin typeface="Arial"/>
                <a:ea typeface="Arial"/>
                <a:cs typeface="Arial"/>
                <a:sym typeface="Arial"/>
                <a:hlinkClick r:id="rId3"/>
              </a:rPr>
              <a:t>【SUUMO】つくば市の賃貸(賃貸マンション・アパート)住宅のお部屋探し物件情報</a:t>
            </a:r>
            <a:r>
              <a:rPr b="0" lang="en" sz="1100">
                <a:solidFill>
                  <a:srgbClr val="000000"/>
                </a:solidFill>
                <a:latin typeface="Arial"/>
                <a:ea typeface="Arial"/>
                <a:cs typeface="Arial"/>
                <a:sym typeface="Arial"/>
              </a:rPr>
              <a:t> </a:t>
            </a:r>
            <a:endParaRPr b="0" sz="1100">
              <a:solidFill>
                <a:srgbClr val="000000"/>
              </a:solidFill>
              <a:latin typeface="Arial"/>
              <a:ea typeface="Arial"/>
              <a:cs typeface="Arial"/>
              <a:sym typeface="Arial"/>
            </a:endParaRPr>
          </a:p>
          <a:p>
            <a:pPr indent="0" lvl="0" marL="0" rtl="0" algn="l">
              <a:spcBef>
                <a:spcPts val="0"/>
              </a:spcBef>
              <a:spcAft>
                <a:spcPts val="0"/>
              </a:spcAft>
              <a:buNone/>
            </a:pPr>
            <a:r>
              <a:t/>
            </a:r>
            <a:endParaRPr b="0" sz="1100">
              <a:solidFill>
                <a:srgbClr val="000000"/>
              </a:solidFill>
              <a:latin typeface="Arial"/>
              <a:ea typeface="Arial"/>
              <a:cs typeface="Arial"/>
              <a:sym typeface="Arial"/>
            </a:endParaRPr>
          </a:p>
          <a:p>
            <a:pPr indent="0" lvl="0" marL="0" rtl="0" algn="l">
              <a:spcBef>
                <a:spcPts val="0"/>
              </a:spcBef>
              <a:spcAft>
                <a:spcPts val="0"/>
              </a:spcAft>
              <a:buNone/>
            </a:pPr>
            <a:r>
              <a:rPr b="0" lang="en" sz="1100">
                <a:solidFill>
                  <a:srgbClr val="000000"/>
                </a:solidFill>
                <a:latin typeface="Arial"/>
                <a:ea typeface="Arial"/>
                <a:cs typeface="Arial"/>
                <a:sym typeface="Arial"/>
              </a:rPr>
              <a:t>Specifically from 5 areas:</a:t>
            </a:r>
            <a:endParaRPr b="0" sz="1100">
              <a:solidFill>
                <a:srgbClr val="000000"/>
              </a:solidFill>
              <a:latin typeface="Arial"/>
              <a:ea typeface="Arial"/>
              <a:cs typeface="Arial"/>
              <a:sym typeface="Arial"/>
            </a:endParaRPr>
          </a:p>
          <a:p>
            <a:pPr indent="-291465" lvl="0" marL="457200" rtl="0" algn="l">
              <a:lnSpc>
                <a:spcPct val="115000"/>
              </a:lnSpc>
              <a:spcBef>
                <a:spcPts val="1200"/>
              </a:spcBef>
              <a:spcAft>
                <a:spcPts val="0"/>
              </a:spcAft>
              <a:buClr>
                <a:srgbClr val="000000"/>
              </a:buClr>
              <a:buSzPct val="100000"/>
              <a:buFont typeface="Arial"/>
              <a:buChar char="●"/>
            </a:pPr>
            <a:r>
              <a:rPr b="0" lang="en" sz="1100">
                <a:solidFill>
                  <a:srgbClr val="000000"/>
                </a:solidFill>
                <a:latin typeface="Arial"/>
                <a:ea typeface="Arial"/>
                <a:cs typeface="Arial"/>
                <a:sym typeface="Arial"/>
              </a:rPr>
              <a:t>Kasuga (春日)</a:t>
            </a:r>
            <a:endParaRPr b="0" sz="1100">
              <a:solidFill>
                <a:srgbClr val="000000"/>
              </a:solidFill>
              <a:latin typeface="Arial"/>
              <a:ea typeface="Arial"/>
              <a:cs typeface="Arial"/>
              <a:sym typeface="Arial"/>
            </a:endParaRPr>
          </a:p>
          <a:p>
            <a:pPr indent="-291465" lvl="0" marL="457200" rtl="0" algn="l">
              <a:lnSpc>
                <a:spcPct val="115000"/>
              </a:lnSpc>
              <a:spcBef>
                <a:spcPts val="0"/>
              </a:spcBef>
              <a:spcAft>
                <a:spcPts val="0"/>
              </a:spcAft>
              <a:buClr>
                <a:srgbClr val="000000"/>
              </a:buClr>
              <a:buSzPct val="100000"/>
              <a:buFont typeface="Arial"/>
              <a:buChar char="●"/>
            </a:pPr>
            <a:r>
              <a:rPr b="0" lang="en" sz="1100">
                <a:solidFill>
                  <a:srgbClr val="000000"/>
                </a:solidFill>
                <a:latin typeface="Arial"/>
                <a:ea typeface="Arial"/>
                <a:cs typeface="Arial"/>
                <a:sym typeface="Arial"/>
              </a:rPr>
              <a:t>Amakubo (天久保)</a:t>
            </a:r>
            <a:endParaRPr b="0" sz="1100">
              <a:solidFill>
                <a:srgbClr val="000000"/>
              </a:solidFill>
              <a:latin typeface="Arial"/>
              <a:ea typeface="Arial"/>
              <a:cs typeface="Arial"/>
              <a:sym typeface="Arial"/>
            </a:endParaRPr>
          </a:p>
          <a:p>
            <a:pPr indent="-291465" lvl="0" marL="457200" rtl="0" algn="l">
              <a:lnSpc>
                <a:spcPct val="115000"/>
              </a:lnSpc>
              <a:spcBef>
                <a:spcPts val="0"/>
              </a:spcBef>
              <a:spcAft>
                <a:spcPts val="0"/>
              </a:spcAft>
              <a:buClr>
                <a:srgbClr val="000000"/>
              </a:buClr>
              <a:buSzPct val="100000"/>
              <a:buFont typeface="Arial"/>
              <a:buChar char="●"/>
            </a:pPr>
            <a:r>
              <a:rPr b="0" lang="en" sz="1100">
                <a:solidFill>
                  <a:srgbClr val="000000"/>
                </a:solidFill>
                <a:latin typeface="Arial"/>
                <a:ea typeface="Arial"/>
                <a:cs typeface="Arial"/>
                <a:sym typeface="Arial"/>
              </a:rPr>
              <a:t>Azuma (吾妻)</a:t>
            </a:r>
            <a:endParaRPr b="0" sz="1100">
              <a:solidFill>
                <a:srgbClr val="000000"/>
              </a:solidFill>
              <a:latin typeface="Arial"/>
              <a:ea typeface="Arial"/>
              <a:cs typeface="Arial"/>
              <a:sym typeface="Arial"/>
            </a:endParaRPr>
          </a:p>
          <a:p>
            <a:pPr indent="-291465" lvl="0" marL="457200" rtl="0" algn="l">
              <a:lnSpc>
                <a:spcPct val="115000"/>
              </a:lnSpc>
              <a:spcBef>
                <a:spcPts val="0"/>
              </a:spcBef>
              <a:spcAft>
                <a:spcPts val="0"/>
              </a:spcAft>
              <a:buClr>
                <a:srgbClr val="000000"/>
              </a:buClr>
              <a:buSzPct val="100000"/>
              <a:buFont typeface="Arial"/>
              <a:buChar char="●"/>
            </a:pPr>
            <a:r>
              <a:rPr b="0" lang="en" sz="1100">
                <a:solidFill>
                  <a:srgbClr val="000000"/>
                </a:solidFill>
                <a:latin typeface="Arial"/>
                <a:ea typeface="Arial"/>
                <a:cs typeface="Arial"/>
                <a:sym typeface="Arial"/>
              </a:rPr>
              <a:t>Sakura (桜)</a:t>
            </a:r>
            <a:endParaRPr b="0" sz="1100">
              <a:solidFill>
                <a:srgbClr val="000000"/>
              </a:solidFill>
              <a:latin typeface="Arial"/>
              <a:ea typeface="Arial"/>
              <a:cs typeface="Arial"/>
              <a:sym typeface="Arial"/>
            </a:endParaRPr>
          </a:p>
          <a:p>
            <a:pPr indent="-291465" lvl="0" marL="457200" rtl="0" algn="l">
              <a:lnSpc>
                <a:spcPct val="115000"/>
              </a:lnSpc>
              <a:spcBef>
                <a:spcPts val="0"/>
              </a:spcBef>
              <a:spcAft>
                <a:spcPts val="0"/>
              </a:spcAft>
              <a:buClr>
                <a:srgbClr val="000000"/>
              </a:buClr>
              <a:buSzPct val="100000"/>
              <a:buFont typeface="Arial"/>
              <a:buChar char="●"/>
            </a:pPr>
            <a:r>
              <a:rPr b="0" lang="en" sz="1100">
                <a:solidFill>
                  <a:srgbClr val="000000"/>
                </a:solidFill>
                <a:latin typeface="Arial"/>
                <a:ea typeface="Arial"/>
                <a:cs typeface="Arial"/>
                <a:sym typeface="Arial"/>
              </a:rPr>
              <a:t>Matsushiro (松代)</a:t>
            </a:r>
            <a:endParaRPr b="0" sz="1100">
              <a:solidFill>
                <a:srgbClr val="000000"/>
              </a:solidFill>
              <a:latin typeface="Arial"/>
              <a:ea typeface="Arial"/>
              <a:cs typeface="Arial"/>
              <a:sym typeface="Arial"/>
            </a:endParaRPr>
          </a:p>
          <a:p>
            <a:pPr indent="-291465" lvl="0" marL="457200" rtl="0" algn="l">
              <a:lnSpc>
                <a:spcPct val="115000"/>
              </a:lnSpc>
              <a:spcBef>
                <a:spcPts val="0"/>
              </a:spcBef>
              <a:spcAft>
                <a:spcPts val="0"/>
              </a:spcAft>
              <a:buClr>
                <a:srgbClr val="000000"/>
              </a:buClr>
              <a:buSzPct val="100000"/>
              <a:buFont typeface="Arial"/>
              <a:buChar char="●"/>
            </a:pPr>
            <a:r>
              <a:rPr b="0" lang="en" sz="1100">
                <a:solidFill>
                  <a:srgbClr val="000000"/>
                </a:solidFill>
                <a:latin typeface="Arial"/>
                <a:ea typeface="Arial"/>
                <a:cs typeface="Arial"/>
                <a:sym typeface="Arial"/>
              </a:rPr>
              <a:t>Takezono (竹園)</a:t>
            </a:r>
            <a:endParaRPr b="0"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1433">
                <a:latin typeface="Arial"/>
                <a:ea typeface="Arial"/>
                <a:cs typeface="Arial"/>
                <a:sym typeface="Arial"/>
              </a:rPr>
              <a:t>Collected around the University of Tsukuba </a:t>
            </a:r>
            <a:endParaRPr sz="1433">
              <a:latin typeface="Arial"/>
              <a:ea typeface="Arial"/>
              <a:cs typeface="Arial"/>
              <a:sym typeface="Arial"/>
            </a:endParaRPr>
          </a:p>
          <a:p>
            <a:pPr indent="0" lvl="0" marL="0" rtl="0" algn="l">
              <a:spcBef>
                <a:spcPts val="1200"/>
              </a:spcBef>
              <a:spcAft>
                <a:spcPts val="0"/>
              </a:spcAft>
              <a:buNone/>
            </a:pPr>
            <a:r>
              <a:t/>
            </a:r>
            <a:endParaRPr b="0" sz="1100">
              <a:solidFill>
                <a:srgbClr val="000000"/>
              </a:solidFill>
              <a:latin typeface="Arial"/>
              <a:ea typeface="Arial"/>
              <a:cs typeface="Arial"/>
              <a:sym typeface="Arial"/>
            </a:endParaRPr>
          </a:p>
        </p:txBody>
      </p:sp>
      <p:sp>
        <p:nvSpPr>
          <p:cNvPr id="298" name="Google Shape;298;p17"/>
          <p:cNvSpPr txBox="1"/>
          <p:nvPr/>
        </p:nvSpPr>
        <p:spPr>
          <a:xfrm>
            <a:off x="3584975" y="1629325"/>
            <a:ext cx="300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4000">
                <a:solidFill>
                  <a:schemeClr val="lt1"/>
                </a:solidFill>
                <a:latin typeface="Maven Pro"/>
                <a:ea typeface="Maven Pro"/>
                <a:cs typeface="Maven Pro"/>
                <a:sym typeface="Maven Pro"/>
              </a:rPr>
              <a:t>➡️</a:t>
            </a:r>
            <a:endParaRPr b="1" sz="4000">
              <a:solidFill>
                <a:schemeClr val="lt1"/>
              </a:solidFill>
              <a:latin typeface="Maven Pro"/>
              <a:ea typeface="Maven Pro"/>
              <a:cs typeface="Maven Pro"/>
              <a:sym typeface="Maven Pro"/>
            </a:endParaRPr>
          </a:p>
        </p:txBody>
      </p:sp>
      <p:pic>
        <p:nvPicPr>
          <p:cNvPr id="299" name="Google Shape;299;p17"/>
          <p:cNvPicPr preferRelativeResize="0"/>
          <p:nvPr/>
        </p:nvPicPr>
        <p:blipFill rotWithShape="1">
          <a:blip r:embed="rId4">
            <a:alphaModFix/>
          </a:blip>
          <a:srcRect b="0" l="7240" r="-7240" t="0"/>
          <a:stretch/>
        </p:blipFill>
        <p:spPr>
          <a:xfrm>
            <a:off x="6584975" y="2571750"/>
            <a:ext cx="2507976" cy="1316700"/>
          </a:xfrm>
          <a:prstGeom prst="rect">
            <a:avLst/>
          </a:prstGeom>
          <a:noFill/>
          <a:ln>
            <a:noFill/>
          </a:ln>
        </p:spPr>
      </p:pic>
      <p:sp>
        <p:nvSpPr>
          <p:cNvPr id="300" name="Google Shape;300;p17"/>
          <p:cNvSpPr/>
          <p:nvPr/>
        </p:nvSpPr>
        <p:spPr>
          <a:xfrm>
            <a:off x="4687650" y="201700"/>
            <a:ext cx="3207000" cy="1210200"/>
          </a:xfrm>
          <a:prstGeom prst="wedgeRoundRectCallout">
            <a:avLst>
              <a:gd fmla="val -92266" name="adj1"/>
              <a:gd fmla="val 38004"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Impact"/>
                <a:ea typeface="Impact"/>
                <a:cs typeface="Impact"/>
                <a:sym typeface="Impact"/>
              </a:rPr>
              <a:t>A Multi-Objective Function Optimisation Problem</a:t>
            </a:r>
            <a:endParaRPr sz="2100">
              <a:latin typeface="Impact"/>
              <a:ea typeface="Impact"/>
              <a:cs typeface="Impact"/>
              <a:sym typeface="Impac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1000"/>
                                        <p:tgtEl>
                                          <p:spTgt spid="30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8"/>
          <p:cNvSpPr txBox="1"/>
          <p:nvPr>
            <p:ph type="ctrTitle"/>
          </p:nvPr>
        </p:nvSpPr>
        <p:spPr>
          <a:xfrm>
            <a:off x="1522100" y="-115581"/>
            <a:ext cx="3731700" cy="909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System Workflow </a:t>
            </a:r>
            <a:endParaRPr/>
          </a:p>
        </p:txBody>
      </p:sp>
      <p:sp>
        <p:nvSpPr>
          <p:cNvPr id="306" name="Google Shape;306;p18"/>
          <p:cNvSpPr txBox="1"/>
          <p:nvPr>
            <p:ph idx="1" type="subTitle"/>
          </p:nvPr>
        </p:nvSpPr>
        <p:spPr>
          <a:xfrm>
            <a:off x="1706550" y="705075"/>
            <a:ext cx="4255500" cy="402300"/>
          </a:xfrm>
          <a:prstGeom prst="rect">
            <a:avLst/>
          </a:prstGeom>
          <a:solidFill>
            <a:schemeClr val="lt1"/>
          </a:solidFill>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rgbClr val="76A5AF"/>
                </a:solidFill>
              </a:rPr>
              <a:t>Apartment Dataset</a:t>
            </a:r>
            <a:endParaRPr>
              <a:solidFill>
                <a:srgbClr val="76A5AF"/>
              </a:solidFill>
            </a:endParaRPr>
          </a:p>
        </p:txBody>
      </p:sp>
      <p:sp>
        <p:nvSpPr>
          <p:cNvPr id="307" name="Google Shape;307;p18"/>
          <p:cNvSpPr txBox="1"/>
          <p:nvPr>
            <p:ph idx="1" type="subTitle"/>
          </p:nvPr>
        </p:nvSpPr>
        <p:spPr>
          <a:xfrm>
            <a:off x="1664025" y="1353788"/>
            <a:ext cx="4255500" cy="465900"/>
          </a:xfrm>
          <a:prstGeom prst="rect">
            <a:avLst/>
          </a:prstGeom>
          <a:solidFill>
            <a:schemeClr val="lt1"/>
          </a:solidFill>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solidFill>
                  <a:srgbClr val="76A5AF"/>
                </a:solidFill>
                <a:latin typeface="Arial"/>
                <a:ea typeface="Arial"/>
                <a:cs typeface="Arial"/>
                <a:sym typeface="Arial"/>
              </a:rPr>
              <a:t>User inputs (Budget, Room size, Importance of Each factor from 1-5)</a:t>
            </a:r>
            <a:endParaRPr>
              <a:solidFill>
                <a:srgbClr val="76A5AF"/>
              </a:solidFill>
              <a:latin typeface="Arial"/>
              <a:ea typeface="Arial"/>
              <a:cs typeface="Arial"/>
              <a:sym typeface="Arial"/>
            </a:endParaRPr>
          </a:p>
        </p:txBody>
      </p:sp>
      <p:sp>
        <p:nvSpPr>
          <p:cNvPr id="308" name="Google Shape;308;p18"/>
          <p:cNvSpPr txBox="1"/>
          <p:nvPr>
            <p:ph idx="1" type="subTitle"/>
          </p:nvPr>
        </p:nvSpPr>
        <p:spPr>
          <a:xfrm>
            <a:off x="1706550" y="2050563"/>
            <a:ext cx="4255500" cy="402300"/>
          </a:xfrm>
          <a:prstGeom prst="rect">
            <a:avLst/>
          </a:prstGeom>
          <a:solidFill>
            <a:schemeClr val="lt1"/>
          </a:solidFill>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rgbClr val="76A5AF"/>
                </a:solidFill>
              </a:rPr>
              <a:t>Filter apartments</a:t>
            </a:r>
            <a:endParaRPr>
              <a:solidFill>
                <a:srgbClr val="76A5AF"/>
              </a:solidFill>
            </a:endParaRPr>
          </a:p>
        </p:txBody>
      </p:sp>
      <p:sp>
        <p:nvSpPr>
          <p:cNvPr id="309" name="Google Shape;309;p18"/>
          <p:cNvSpPr txBox="1"/>
          <p:nvPr>
            <p:ph idx="1" type="subTitle"/>
          </p:nvPr>
        </p:nvSpPr>
        <p:spPr>
          <a:xfrm>
            <a:off x="1664025" y="2690313"/>
            <a:ext cx="4255500" cy="402300"/>
          </a:xfrm>
          <a:prstGeom prst="rect">
            <a:avLst/>
          </a:prstGeom>
          <a:solidFill>
            <a:schemeClr val="lt1"/>
          </a:solidFill>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rgbClr val="76A5AF"/>
                </a:solidFill>
              </a:rPr>
              <a:t>Calculate scores</a:t>
            </a:r>
            <a:endParaRPr>
              <a:solidFill>
                <a:srgbClr val="76A5AF"/>
              </a:solidFill>
            </a:endParaRPr>
          </a:p>
        </p:txBody>
      </p:sp>
      <p:sp>
        <p:nvSpPr>
          <p:cNvPr id="310" name="Google Shape;310;p18"/>
          <p:cNvSpPr txBox="1"/>
          <p:nvPr>
            <p:ph idx="1" type="subTitle"/>
          </p:nvPr>
        </p:nvSpPr>
        <p:spPr>
          <a:xfrm>
            <a:off x="1664025" y="3369738"/>
            <a:ext cx="4255500" cy="402300"/>
          </a:xfrm>
          <a:prstGeom prst="rect">
            <a:avLst/>
          </a:prstGeom>
          <a:solidFill>
            <a:schemeClr val="lt1"/>
          </a:solidFill>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rgbClr val="76A5AF"/>
                </a:solidFill>
              </a:rPr>
              <a:t>Fitness functions</a:t>
            </a:r>
            <a:endParaRPr>
              <a:solidFill>
                <a:srgbClr val="76A5AF"/>
              </a:solidFill>
            </a:endParaRPr>
          </a:p>
        </p:txBody>
      </p:sp>
      <p:sp>
        <p:nvSpPr>
          <p:cNvPr id="311" name="Google Shape;311;p18"/>
          <p:cNvSpPr txBox="1"/>
          <p:nvPr>
            <p:ph idx="1" type="subTitle"/>
          </p:nvPr>
        </p:nvSpPr>
        <p:spPr>
          <a:xfrm>
            <a:off x="1600275" y="3963225"/>
            <a:ext cx="4255500" cy="402300"/>
          </a:xfrm>
          <a:prstGeom prst="rect">
            <a:avLst/>
          </a:prstGeom>
          <a:solidFill>
            <a:schemeClr val="lt1"/>
          </a:solidFill>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rgbClr val="76A5AF"/>
                </a:solidFill>
              </a:rPr>
              <a:t>Genetic Algorithm</a:t>
            </a:r>
            <a:endParaRPr>
              <a:solidFill>
                <a:srgbClr val="76A5AF"/>
              </a:solidFill>
            </a:endParaRPr>
          </a:p>
        </p:txBody>
      </p:sp>
      <p:sp>
        <p:nvSpPr>
          <p:cNvPr id="312" name="Google Shape;312;p18"/>
          <p:cNvSpPr txBox="1"/>
          <p:nvPr>
            <p:ph idx="1" type="subTitle"/>
          </p:nvPr>
        </p:nvSpPr>
        <p:spPr>
          <a:xfrm>
            <a:off x="1664025" y="4556700"/>
            <a:ext cx="4255500" cy="402300"/>
          </a:xfrm>
          <a:prstGeom prst="rect">
            <a:avLst/>
          </a:prstGeom>
          <a:solidFill>
            <a:schemeClr val="lt1"/>
          </a:solidFill>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rgbClr val="76A5AF"/>
                </a:solidFill>
              </a:rPr>
              <a:t>Rank apartments </a:t>
            </a:r>
            <a:endParaRPr>
              <a:solidFill>
                <a:srgbClr val="76A5AF"/>
              </a:solidFill>
            </a:endParaRPr>
          </a:p>
        </p:txBody>
      </p:sp>
      <p:sp>
        <p:nvSpPr>
          <p:cNvPr id="313" name="Google Shape;313;p18"/>
          <p:cNvSpPr txBox="1"/>
          <p:nvPr/>
        </p:nvSpPr>
        <p:spPr>
          <a:xfrm>
            <a:off x="2962050" y="998263"/>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 </a:t>
            </a:r>
            <a:r>
              <a:rPr lang="en" sz="1800"/>
              <a:t>⬇️</a:t>
            </a:r>
            <a:endParaRPr sz="1600"/>
          </a:p>
        </p:txBody>
      </p:sp>
      <p:sp>
        <p:nvSpPr>
          <p:cNvPr id="314" name="Google Shape;314;p18"/>
          <p:cNvSpPr txBox="1"/>
          <p:nvPr/>
        </p:nvSpPr>
        <p:spPr>
          <a:xfrm>
            <a:off x="2522225" y="171525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        </a:t>
            </a:r>
            <a:r>
              <a:rPr lang="en" sz="1600"/>
              <a:t>⬇️</a:t>
            </a:r>
            <a:endParaRPr/>
          </a:p>
        </p:txBody>
      </p:sp>
      <p:sp>
        <p:nvSpPr>
          <p:cNvPr id="315" name="Google Shape;315;p18"/>
          <p:cNvSpPr txBox="1"/>
          <p:nvPr/>
        </p:nvSpPr>
        <p:spPr>
          <a:xfrm>
            <a:off x="2919525" y="2379175"/>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  </a:t>
            </a:r>
            <a:r>
              <a:rPr lang="en" sz="1600"/>
              <a:t>⬇️</a:t>
            </a:r>
            <a:endParaRPr/>
          </a:p>
        </p:txBody>
      </p:sp>
      <p:sp>
        <p:nvSpPr>
          <p:cNvPr id="316" name="Google Shape;316;p18"/>
          <p:cNvSpPr txBox="1"/>
          <p:nvPr/>
        </p:nvSpPr>
        <p:spPr>
          <a:xfrm>
            <a:off x="2962050" y="3043475"/>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t> </a:t>
            </a:r>
            <a:r>
              <a:rPr lang="en" sz="1500"/>
              <a:t>⬇️</a:t>
            </a:r>
            <a:endParaRPr sz="1300"/>
          </a:p>
        </p:txBody>
      </p:sp>
      <p:sp>
        <p:nvSpPr>
          <p:cNvPr id="317" name="Google Shape;317;p18"/>
          <p:cNvSpPr txBox="1"/>
          <p:nvPr/>
        </p:nvSpPr>
        <p:spPr>
          <a:xfrm>
            <a:off x="2962050" y="3692163"/>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t>  </a:t>
            </a:r>
            <a:r>
              <a:rPr lang="en" sz="1300"/>
              <a:t>⬇️</a:t>
            </a:r>
            <a:endParaRPr sz="1200"/>
          </a:p>
        </p:txBody>
      </p:sp>
      <p:sp>
        <p:nvSpPr>
          <p:cNvPr id="318" name="Google Shape;318;p18"/>
          <p:cNvSpPr txBox="1"/>
          <p:nvPr/>
        </p:nvSpPr>
        <p:spPr>
          <a:xfrm>
            <a:off x="3015175" y="4310263"/>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t> </a:t>
            </a:r>
            <a:r>
              <a:rPr lang="en" sz="1300"/>
              <a:t>⬇️</a:t>
            </a:r>
            <a:endParaRPr/>
          </a:p>
        </p:txBody>
      </p:sp>
      <p:pic>
        <p:nvPicPr>
          <p:cNvPr id="319" name="Google Shape;319;p18"/>
          <p:cNvPicPr preferRelativeResize="0"/>
          <p:nvPr/>
        </p:nvPicPr>
        <p:blipFill>
          <a:blip r:embed="rId3">
            <a:alphaModFix/>
          </a:blip>
          <a:stretch>
            <a:fillRect/>
          </a:stretch>
        </p:blipFill>
        <p:spPr>
          <a:xfrm>
            <a:off x="6102675" y="624200"/>
            <a:ext cx="595924" cy="595924"/>
          </a:xfrm>
          <a:prstGeom prst="rect">
            <a:avLst/>
          </a:prstGeom>
          <a:noFill/>
          <a:ln>
            <a:noFill/>
          </a:ln>
        </p:spPr>
      </p:pic>
      <p:pic>
        <p:nvPicPr>
          <p:cNvPr id="320" name="Google Shape;320;p18"/>
          <p:cNvPicPr preferRelativeResize="0"/>
          <p:nvPr/>
        </p:nvPicPr>
        <p:blipFill>
          <a:blip r:embed="rId4">
            <a:alphaModFix/>
          </a:blip>
          <a:stretch>
            <a:fillRect/>
          </a:stretch>
        </p:blipFill>
        <p:spPr>
          <a:xfrm>
            <a:off x="6102675" y="1353802"/>
            <a:ext cx="1535731" cy="1023850"/>
          </a:xfrm>
          <a:prstGeom prst="rect">
            <a:avLst/>
          </a:prstGeom>
          <a:noFill/>
          <a:ln>
            <a:noFill/>
          </a:ln>
        </p:spPr>
      </p:pic>
      <p:pic>
        <p:nvPicPr>
          <p:cNvPr id="321" name="Google Shape;321;p18"/>
          <p:cNvPicPr preferRelativeResize="0"/>
          <p:nvPr/>
        </p:nvPicPr>
        <p:blipFill>
          <a:blip r:embed="rId5">
            <a:alphaModFix/>
          </a:blip>
          <a:stretch>
            <a:fillRect/>
          </a:stretch>
        </p:blipFill>
        <p:spPr>
          <a:xfrm>
            <a:off x="6339473" y="2492037"/>
            <a:ext cx="1298926" cy="1298926"/>
          </a:xfrm>
          <a:prstGeom prst="rect">
            <a:avLst/>
          </a:prstGeom>
          <a:noFill/>
          <a:ln>
            <a:noFill/>
          </a:ln>
        </p:spPr>
      </p:pic>
      <p:pic>
        <p:nvPicPr>
          <p:cNvPr id="322" name="Google Shape;322;p18"/>
          <p:cNvPicPr preferRelativeResize="0"/>
          <p:nvPr/>
        </p:nvPicPr>
        <p:blipFill>
          <a:blip r:embed="rId6">
            <a:alphaModFix/>
          </a:blip>
          <a:stretch>
            <a:fillRect/>
          </a:stretch>
        </p:blipFill>
        <p:spPr>
          <a:xfrm>
            <a:off x="6262900" y="3905357"/>
            <a:ext cx="1671300" cy="119473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Genetic Algorithm </a:t>
            </a:r>
            <a:endParaRPr/>
          </a:p>
        </p:txBody>
      </p:sp>
      <p:sp>
        <p:nvSpPr>
          <p:cNvPr id="328" name="Google Shape;328;p19"/>
          <p:cNvSpPr txBox="1"/>
          <p:nvPr>
            <p:ph idx="1" type="body"/>
          </p:nvPr>
        </p:nvSpPr>
        <p:spPr>
          <a:xfrm>
            <a:off x="78725" y="1475450"/>
            <a:ext cx="4827000" cy="37314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None/>
            </a:pPr>
            <a:r>
              <a:t/>
            </a:r>
            <a:endParaRPr b="1">
              <a:solidFill>
                <a:srgbClr val="000000"/>
              </a:solidFill>
              <a:latin typeface="Arial"/>
              <a:ea typeface="Arial"/>
              <a:cs typeface="Arial"/>
              <a:sym typeface="Arial"/>
            </a:endParaRPr>
          </a:p>
          <a:p>
            <a:pPr indent="0" lvl="0" marL="0" rtl="0" algn="l">
              <a:spcBef>
                <a:spcPts val="1400"/>
              </a:spcBef>
              <a:spcAft>
                <a:spcPts val="0"/>
              </a:spcAft>
              <a:buNone/>
            </a:pPr>
            <a:r>
              <a:rPr b="1" lang="en">
                <a:solidFill>
                  <a:srgbClr val="000000"/>
                </a:solidFill>
                <a:latin typeface="Arial"/>
                <a:ea typeface="Arial"/>
                <a:cs typeface="Arial"/>
                <a:sym typeface="Arial"/>
              </a:rPr>
              <a:t>Selection</a:t>
            </a:r>
            <a:endParaRPr b="1">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Roulette Wheel Selection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Apartments with higher fitness are more likely to be selected.</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a:solidFill>
                  <a:srgbClr val="000000"/>
                </a:solidFill>
                <a:latin typeface="Arial"/>
                <a:ea typeface="Arial"/>
                <a:cs typeface="Arial"/>
                <a:sym typeface="Arial"/>
              </a:rPr>
              <a:t>Crossover</a:t>
            </a:r>
            <a:endParaRPr b="1">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One chromosome represents one apartment.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Traditional one-point and two-point crossover are not suitable.                                                                                                       </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One of the selected parents is randomly chosen as the child.</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a:solidFill>
                  <a:srgbClr val="000000"/>
                </a:solidFill>
                <a:latin typeface="Arial"/>
                <a:ea typeface="Arial"/>
                <a:cs typeface="Arial"/>
                <a:sym typeface="Arial"/>
              </a:rPr>
              <a:t>Mutation</a:t>
            </a:r>
            <a:endParaRPr b="1">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10% chance of replacing the apartment with another random apartment.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Helps maintain diversity in the population.</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329" name="Google Shape;329;p19"/>
          <p:cNvSpPr txBox="1"/>
          <p:nvPr/>
        </p:nvSpPr>
        <p:spPr>
          <a:xfrm>
            <a:off x="5657000" y="2245750"/>
            <a:ext cx="3000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Population</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Roulette Wheel Selection</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Crossover</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Mutation</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New Population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a:t>
            </a:r>
            <a:endParaRPr/>
          </a:p>
        </p:txBody>
      </p:sp>
      <p:sp>
        <p:nvSpPr>
          <p:cNvPr id="335" name="Google Shape;335;p20"/>
          <p:cNvSpPr txBox="1"/>
          <p:nvPr>
            <p:ph idx="1" type="body"/>
          </p:nvPr>
        </p:nvSpPr>
        <p:spPr>
          <a:xfrm>
            <a:off x="78725" y="1475450"/>
            <a:ext cx="8755200" cy="3731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Example User Input</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Maximum Budget: </a:t>
            </a:r>
            <a:r>
              <a:rPr b="1" lang="en" sz="1100">
                <a:solidFill>
                  <a:srgbClr val="000000"/>
                </a:solidFill>
                <a:latin typeface="Arial"/>
                <a:ea typeface="Arial"/>
                <a:cs typeface="Arial"/>
                <a:sym typeface="Arial"/>
              </a:rPr>
              <a:t>¥40,000                                                            </a:t>
            </a: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Minimum Room Size: </a:t>
            </a:r>
            <a:r>
              <a:rPr b="1" lang="en" sz="1100">
                <a:solidFill>
                  <a:srgbClr val="000000"/>
                </a:solidFill>
                <a:latin typeface="Arial"/>
                <a:ea typeface="Arial"/>
                <a:cs typeface="Arial"/>
                <a:sym typeface="Arial"/>
              </a:rPr>
              <a:t>20 (meter squared)</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Output:</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b="1">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336" name="Google Shape;336;p20"/>
          <p:cNvSpPr txBox="1"/>
          <p:nvPr/>
        </p:nvSpPr>
        <p:spPr>
          <a:xfrm>
            <a:off x="5657000" y="22457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337" name="Google Shape;337;p20"/>
          <p:cNvPicPr preferRelativeResize="0"/>
          <p:nvPr/>
        </p:nvPicPr>
        <p:blipFill>
          <a:blip r:embed="rId3">
            <a:alphaModFix/>
          </a:blip>
          <a:stretch>
            <a:fillRect/>
          </a:stretch>
        </p:blipFill>
        <p:spPr>
          <a:xfrm>
            <a:off x="926000" y="2494150"/>
            <a:ext cx="7479901" cy="2491850"/>
          </a:xfrm>
          <a:prstGeom prst="rect">
            <a:avLst/>
          </a:prstGeom>
          <a:noFill/>
          <a:ln>
            <a:noFill/>
          </a:ln>
        </p:spPr>
      </p:pic>
      <p:sp>
        <p:nvSpPr>
          <p:cNvPr id="338" name="Google Shape;338;p20"/>
          <p:cNvSpPr txBox="1"/>
          <p:nvPr/>
        </p:nvSpPr>
        <p:spPr>
          <a:xfrm>
            <a:off x="5108850" y="1597875"/>
            <a:ext cx="3871200" cy="7722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2"/>
              </a:buClr>
              <a:buSzPts val="1000"/>
              <a:buChar char="●"/>
            </a:pPr>
            <a:r>
              <a:rPr lang="en" sz="1000">
                <a:solidFill>
                  <a:schemeClr val="dk2"/>
                </a:solidFill>
              </a:rPr>
              <a:t>Importance of Rent(1-5):</a:t>
            </a:r>
            <a:r>
              <a:rPr b="1" lang="en" sz="1000">
                <a:solidFill>
                  <a:schemeClr val="dk2"/>
                </a:solidFill>
              </a:rPr>
              <a:t>4</a:t>
            </a:r>
            <a:br>
              <a:rPr lang="en" sz="1000">
                <a:solidFill>
                  <a:schemeClr val="dk2"/>
                </a:solidFill>
              </a:rPr>
            </a:br>
            <a:r>
              <a:rPr lang="en" sz="1000">
                <a:solidFill>
                  <a:schemeClr val="dk2"/>
                </a:solidFill>
              </a:rPr>
              <a:t>Importance of Room Size: </a:t>
            </a:r>
            <a:r>
              <a:rPr b="1" lang="en" sz="1000">
                <a:solidFill>
                  <a:schemeClr val="dk2"/>
                </a:solidFill>
              </a:rPr>
              <a:t>4</a:t>
            </a:r>
            <a:endParaRPr b="1"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Importance of University Distance (1-5): </a:t>
            </a:r>
            <a:r>
              <a:rPr b="1" lang="en" sz="1000">
                <a:solidFill>
                  <a:schemeClr val="dk2"/>
                </a:solidFill>
              </a:rPr>
              <a:t>4</a:t>
            </a:r>
            <a:endParaRPr b="1"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Importance of Supermarket Distance (1-5): </a:t>
            </a:r>
            <a:r>
              <a:rPr b="1" lang="en" sz="1000">
                <a:solidFill>
                  <a:schemeClr val="dk2"/>
                </a:solidFill>
              </a:rPr>
              <a:t>3</a:t>
            </a:r>
            <a:endParaRPr b="1" sz="1000">
              <a:solidFill>
                <a:schemeClr val="dk2"/>
              </a:solidFill>
            </a:endParaRPr>
          </a:p>
          <a:p>
            <a:pPr indent="-292100" lvl="0" marL="457200" rtl="0" algn="l">
              <a:spcBef>
                <a:spcPts val="0"/>
              </a:spcBef>
              <a:spcAft>
                <a:spcPts val="0"/>
              </a:spcAft>
              <a:buClr>
                <a:schemeClr val="dk2"/>
              </a:buClr>
              <a:buSzPts val="1000"/>
              <a:buChar char="●"/>
            </a:pPr>
            <a:r>
              <a:rPr lang="en" sz="1000">
                <a:solidFill>
                  <a:schemeClr val="dk2"/>
                </a:solidFill>
              </a:rPr>
              <a:t>Importance of Building Age:</a:t>
            </a:r>
            <a:r>
              <a:rPr b="1" lang="en" sz="1000">
                <a:solidFill>
                  <a:schemeClr val="dk2"/>
                </a:solidFill>
              </a:rPr>
              <a:t> 3</a:t>
            </a:r>
            <a:endParaRPr b="1" sz="10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344" name="Google Shape;344;p21"/>
          <p:cNvSpPr txBox="1"/>
          <p:nvPr>
            <p:ph idx="1" type="body"/>
          </p:nvPr>
        </p:nvSpPr>
        <p:spPr>
          <a:xfrm>
            <a:off x="78725" y="1475450"/>
            <a:ext cx="9277200" cy="37314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en">
                <a:solidFill>
                  <a:srgbClr val="000000"/>
                </a:solidFill>
                <a:latin typeface="Arial"/>
                <a:ea typeface="Arial"/>
                <a:cs typeface="Arial"/>
                <a:sym typeface="Arial"/>
              </a:rPr>
              <a:t>Achievements</a:t>
            </a:r>
            <a:endParaRPr b="1">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Built an apartment recommendation system.</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Applied a Genetic Algorithm.</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Ranked apartments based on user preferences.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a:solidFill>
                  <a:srgbClr val="000000"/>
                </a:solidFill>
                <a:latin typeface="Arial"/>
                <a:ea typeface="Arial"/>
                <a:cs typeface="Arial"/>
                <a:sym typeface="Arial"/>
              </a:rPr>
              <a:t>Limitations</a:t>
            </a:r>
            <a:endParaRPr b="1">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Dataset contains only 72 apartments.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Since apartments are fixed, the Genetic Algorithm searches among existing apartments rather than creating new ones.</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a:solidFill>
                  <a:srgbClr val="000000"/>
                </a:solidFill>
                <a:latin typeface="Arial"/>
                <a:ea typeface="Arial"/>
                <a:cs typeface="Arial"/>
                <a:sym typeface="Arial"/>
              </a:rPr>
              <a:t>Future Work</a:t>
            </a:r>
            <a:endParaRPr b="1">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Increase the apartment dataset.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Add more features (parking, internet, pet-friendly, etc.).</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Investigate more advanced chromosome representations for richer crossover.</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345" name="Google Shape;345;p21"/>
          <p:cNvSpPr txBox="1"/>
          <p:nvPr/>
        </p:nvSpPr>
        <p:spPr>
          <a:xfrm>
            <a:off x="5657000" y="22457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22"/>
          <p:cNvPicPr preferRelativeResize="0"/>
          <p:nvPr/>
        </p:nvPicPr>
        <p:blipFill>
          <a:blip r:embed="rId3">
            <a:alphaModFix/>
          </a:blip>
          <a:stretch>
            <a:fillRect/>
          </a:stretch>
        </p:blipFill>
        <p:spPr>
          <a:xfrm>
            <a:off x="1000125" y="38100"/>
            <a:ext cx="7143750" cy="5067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3"/>
          <p:cNvSpPr txBox="1"/>
          <p:nvPr/>
        </p:nvSpPr>
        <p:spPr>
          <a:xfrm>
            <a:off x="2441675" y="1255275"/>
            <a:ext cx="5732100" cy="146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Nunito"/>
                <a:ea typeface="Nunito"/>
                <a:cs typeface="Nunito"/>
                <a:sym typeface="Nunito"/>
              </a:rPr>
              <a:t>Supplemental Information</a:t>
            </a:r>
            <a:endParaRPr sz="2000">
              <a:solidFill>
                <a:schemeClr val="dk2"/>
              </a:solidFill>
              <a:latin typeface="Nunito"/>
              <a:ea typeface="Nunito"/>
              <a:cs typeface="Nunito"/>
              <a:sym typeface="Nunito"/>
            </a:endParaRPr>
          </a:p>
        </p:txBody>
      </p:sp>
      <p:sp>
        <p:nvSpPr>
          <p:cNvPr id="356" name="Google Shape;356;p23"/>
          <p:cNvSpPr txBox="1"/>
          <p:nvPr/>
        </p:nvSpPr>
        <p:spPr>
          <a:xfrm>
            <a:off x="1816825" y="2858950"/>
            <a:ext cx="4067100" cy="8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0"/>
              </a:spcBef>
              <a:spcAft>
                <a:spcPts val="0"/>
              </a:spcAft>
              <a:buNone/>
            </a:pPr>
            <a:r>
              <a:rPr lang="en" sz="1300" u="sng">
                <a:solidFill>
                  <a:schemeClr val="hlink"/>
                </a:solidFill>
                <a:hlinkClick r:id="rId3"/>
              </a:rPr>
              <a:t>https://colab.research.google.com/drive/1Y9ou_zn22wArYpbZp9lkU3jabEshXBeo?usp=sharing</a:t>
            </a:r>
            <a:endParaRPr sz="1300"/>
          </a:p>
          <a:p>
            <a:pPr indent="0" lvl="0" marL="0" rtl="0" algn="l">
              <a:spcBef>
                <a:spcPts val="0"/>
              </a:spcBef>
              <a:spcAft>
                <a:spcPts val="0"/>
              </a:spcAft>
              <a:buNone/>
            </a:pPr>
            <a:r>
              <a:t/>
            </a:r>
            <a:endParaRPr sz="1300"/>
          </a:p>
        </p:txBody>
      </p:sp>
      <p:sp>
        <p:nvSpPr>
          <p:cNvPr id="357" name="Google Shape;357;p23"/>
          <p:cNvSpPr txBox="1"/>
          <p:nvPr/>
        </p:nvSpPr>
        <p:spPr>
          <a:xfrm>
            <a:off x="1952525" y="2743200"/>
            <a:ext cx="36429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Code available in</a:t>
            </a:r>
            <a:endParaRPr sz="1300">
              <a:solidFill>
                <a:schemeClr val="dk2"/>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24"/>
          <p:cNvPicPr preferRelativeResize="0"/>
          <p:nvPr/>
        </p:nvPicPr>
        <p:blipFill>
          <a:blip r:embed="rId3">
            <a:alphaModFix/>
          </a:blip>
          <a:stretch>
            <a:fillRect/>
          </a:stretch>
        </p:blipFill>
        <p:spPr>
          <a:xfrm>
            <a:off x="93425" y="997975"/>
            <a:ext cx="8839200" cy="3119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5"/>
          <p:cNvSpPr txBox="1"/>
          <p:nvPr/>
        </p:nvSpPr>
        <p:spPr>
          <a:xfrm>
            <a:off x="848850" y="0"/>
            <a:ext cx="7008000" cy="6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Inputting the Apartment Data and the User Interface -&gt; Convert Importance Ratings to Weights to be Used in the Genetic Algorithm </a:t>
            </a:r>
            <a:endParaRPr sz="1300">
              <a:solidFill>
                <a:schemeClr val="dk2"/>
              </a:solidFill>
              <a:latin typeface="Nunito"/>
              <a:ea typeface="Nunito"/>
              <a:cs typeface="Nunito"/>
              <a:sym typeface="Nunito"/>
            </a:endParaRPr>
          </a:p>
        </p:txBody>
      </p:sp>
      <p:pic>
        <p:nvPicPr>
          <p:cNvPr id="368" name="Google Shape;368;p25"/>
          <p:cNvPicPr preferRelativeResize="0"/>
          <p:nvPr/>
        </p:nvPicPr>
        <p:blipFill>
          <a:blip r:embed="rId3">
            <a:alphaModFix/>
          </a:blip>
          <a:stretch>
            <a:fillRect/>
          </a:stretch>
        </p:blipFill>
        <p:spPr>
          <a:xfrm>
            <a:off x="388400" y="596475"/>
            <a:ext cx="5215513" cy="444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6"/>
          <p:cNvSpPr txBox="1"/>
          <p:nvPr/>
        </p:nvSpPr>
        <p:spPr>
          <a:xfrm>
            <a:off x="966850" y="122625"/>
            <a:ext cx="7008000" cy="6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Filter Apartments</a:t>
            </a:r>
            <a:endParaRPr sz="1300">
              <a:solidFill>
                <a:schemeClr val="dk2"/>
              </a:solidFill>
              <a:latin typeface="Nunito"/>
              <a:ea typeface="Nunito"/>
              <a:cs typeface="Nunito"/>
              <a:sym typeface="Nunito"/>
            </a:endParaRPr>
          </a:p>
        </p:txBody>
      </p:sp>
      <p:pic>
        <p:nvPicPr>
          <p:cNvPr id="374" name="Google Shape;374;p26"/>
          <p:cNvPicPr preferRelativeResize="0"/>
          <p:nvPr/>
        </p:nvPicPr>
        <p:blipFill>
          <a:blip r:embed="rId3">
            <a:alphaModFix/>
          </a:blip>
          <a:stretch>
            <a:fillRect/>
          </a:stretch>
        </p:blipFill>
        <p:spPr>
          <a:xfrm>
            <a:off x="966850" y="771525"/>
            <a:ext cx="3695700" cy="3600450"/>
          </a:xfrm>
          <a:prstGeom prst="rect">
            <a:avLst/>
          </a:prstGeom>
          <a:noFill/>
          <a:ln>
            <a:noFill/>
          </a:ln>
        </p:spPr>
      </p:pic>
      <p:pic>
        <p:nvPicPr>
          <p:cNvPr id="375" name="Google Shape;375;p26"/>
          <p:cNvPicPr preferRelativeResize="0"/>
          <p:nvPr/>
        </p:nvPicPr>
        <p:blipFill>
          <a:blip r:embed="rId4">
            <a:alphaModFix/>
          </a:blip>
          <a:stretch>
            <a:fillRect/>
          </a:stretch>
        </p:blipFill>
        <p:spPr>
          <a:xfrm>
            <a:off x="5864950" y="2044800"/>
            <a:ext cx="1781175" cy="323850"/>
          </a:xfrm>
          <a:prstGeom prst="rect">
            <a:avLst/>
          </a:prstGeom>
          <a:noFill/>
          <a:ln>
            <a:noFill/>
          </a:ln>
        </p:spPr>
      </p:pic>
      <p:sp>
        <p:nvSpPr>
          <p:cNvPr id="376" name="Google Shape;376;p26"/>
          <p:cNvSpPr txBox="1"/>
          <p:nvPr/>
        </p:nvSpPr>
        <p:spPr>
          <a:xfrm>
            <a:off x="362475" y="453100"/>
            <a:ext cx="1163400" cy="22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Code</a:t>
            </a:r>
            <a:endParaRPr sz="1300">
              <a:solidFill>
                <a:schemeClr val="dk2"/>
              </a:solidFill>
              <a:latin typeface="Nunito"/>
              <a:ea typeface="Nunito"/>
              <a:cs typeface="Nunito"/>
              <a:sym typeface="Nunito"/>
            </a:endParaRPr>
          </a:p>
        </p:txBody>
      </p:sp>
      <p:sp>
        <p:nvSpPr>
          <p:cNvPr id="377" name="Google Shape;377;p26"/>
          <p:cNvSpPr txBox="1"/>
          <p:nvPr/>
        </p:nvSpPr>
        <p:spPr>
          <a:xfrm>
            <a:off x="5698100" y="1576750"/>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Output</a:t>
            </a:r>
            <a:endParaRPr sz="1300">
              <a:solidFill>
                <a:schemeClr val="dk2"/>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p27"/>
          <p:cNvPicPr preferRelativeResize="0"/>
          <p:nvPr/>
        </p:nvPicPr>
        <p:blipFill>
          <a:blip r:embed="rId3">
            <a:alphaModFix/>
          </a:blip>
          <a:stretch>
            <a:fillRect/>
          </a:stretch>
        </p:blipFill>
        <p:spPr>
          <a:xfrm>
            <a:off x="1460100" y="93400"/>
            <a:ext cx="5131461" cy="48386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8"/>
          <p:cNvSpPr txBox="1"/>
          <p:nvPr/>
        </p:nvSpPr>
        <p:spPr>
          <a:xfrm>
            <a:off x="752150" y="0"/>
            <a:ext cx="4218000" cy="9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Nunito"/>
                <a:ea typeface="Nunito"/>
                <a:cs typeface="Nunito"/>
                <a:sym typeface="Nunito"/>
              </a:rPr>
              <a:t>Fitness Function</a:t>
            </a:r>
            <a:endParaRPr sz="1600">
              <a:solidFill>
                <a:schemeClr val="dk2"/>
              </a:solidFill>
              <a:latin typeface="Nunito"/>
              <a:ea typeface="Nunito"/>
              <a:cs typeface="Nunito"/>
              <a:sym typeface="Nunito"/>
            </a:endParaRPr>
          </a:p>
        </p:txBody>
      </p:sp>
      <p:pic>
        <p:nvPicPr>
          <p:cNvPr id="388" name="Google Shape;388;p28"/>
          <p:cNvPicPr preferRelativeResize="0"/>
          <p:nvPr/>
        </p:nvPicPr>
        <p:blipFill>
          <a:blip r:embed="rId3">
            <a:alphaModFix/>
          </a:blip>
          <a:stretch>
            <a:fillRect/>
          </a:stretch>
        </p:blipFill>
        <p:spPr>
          <a:xfrm>
            <a:off x="1590775" y="1474325"/>
            <a:ext cx="5189800" cy="3324425"/>
          </a:xfrm>
          <a:prstGeom prst="rect">
            <a:avLst/>
          </a:prstGeom>
          <a:noFill/>
          <a:ln>
            <a:noFill/>
          </a:ln>
        </p:spPr>
      </p:pic>
      <p:pic>
        <p:nvPicPr>
          <p:cNvPr id="389" name="Google Shape;389;p28"/>
          <p:cNvPicPr preferRelativeResize="0"/>
          <p:nvPr/>
        </p:nvPicPr>
        <p:blipFill>
          <a:blip r:embed="rId4">
            <a:alphaModFix/>
          </a:blip>
          <a:stretch>
            <a:fillRect/>
          </a:stretch>
        </p:blipFill>
        <p:spPr>
          <a:xfrm>
            <a:off x="625500" y="440300"/>
            <a:ext cx="5913874" cy="914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p29"/>
          <p:cNvPicPr preferRelativeResize="0"/>
          <p:nvPr/>
        </p:nvPicPr>
        <p:blipFill>
          <a:blip r:embed="rId3">
            <a:alphaModFix/>
          </a:blip>
          <a:stretch>
            <a:fillRect/>
          </a:stretch>
        </p:blipFill>
        <p:spPr>
          <a:xfrm>
            <a:off x="1224125" y="1027475"/>
            <a:ext cx="4324350" cy="2571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0"/>
          <p:cNvSpPr txBox="1"/>
          <p:nvPr/>
        </p:nvSpPr>
        <p:spPr>
          <a:xfrm>
            <a:off x="2113225" y="235600"/>
            <a:ext cx="5208900" cy="75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Roulette selection</a:t>
            </a:r>
            <a:endParaRPr sz="1300">
              <a:solidFill>
                <a:schemeClr val="dk2"/>
              </a:solidFill>
              <a:latin typeface="Nunito"/>
              <a:ea typeface="Nunito"/>
              <a:cs typeface="Nunito"/>
              <a:sym typeface="Nunito"/>
            </a:endParaRPr>
          </a:p>
        </p:txBody>
      </p:sp>
      <p:pic>
        <p:nvPicPr>
          <p:cNvPr id="400" name="Google Shape;400;p30"/>
          <p:cNvPicPr preferRelativeResize="0"/>
          <p:nvPr/>
        </p:nvPicPr>
        <p:blipFill>
          <a:blip r:embed="rId3">
            <a:alphaModFix/>
          </a:blip>
          <a:stretch>
            <a:fillRect/>
          </a:stretch>
        </p:blipFill>
        <p:spPr>
          <a:xfrm>
            <a:off x="214475" y="985900"/>
            <a:ext cx="2800350" cy="2000250"/>
          </a:xfrm>
          <a:prstGeom prst="rect">
            <a:avLst/>
          </a:prstGeom>
          <a:noFill/>
          <a:ln>
            <a:noFill/>
          </a:ln>
        </p:spPr>
      </p:pic>
      <p:sp>
        <p:nvSpPr>
          <p:cNvPr id="401" name="Google Shape;401;p30"/>
          <p:cNvSpPr txBox="1"/>
          <p:nvPr/>
        </p:nvSpPr>
        <p:spPr>
          <a:xfrm>
            <a:off x="3260575" y="668850"/>
            <a:ext cx="2914200" cy="1902900"/>
          </a:xfrm>
          <a:prstGeom prst="rect">
            <a:avLst/>
          </a:prstGeom>
          <a:noFill/>
          <a:ln>
            <a:noFill/>
          </a:ln>
        </p:spPr>
        <p:txBody>
          <a:bodyPr anchorCtr="0" anchor="t" bIns="91425" lIns="91425" spcFirstLastPara="1" rIns="91425" wrap="square" tIns="91425">
            <a:noAutofit/>
          </a:bodyPr>
          <a:lstStyle/>
          <a:p>
            <a:pPr indent="-301625" lvl="0" marL="457200" rtl="0" algn="l">
              <a:lnSpc>
                <a:spcPct val="115000"/>
              </a:lnSpc>
              <a:spcBef>
                <a:spcPts val="0"/>
              </a:spcBef>
              <a:spcAft>
                <a:spcPts val="0"/>
              </a:spcAft>
              <a:buClr>
                <a:srgbClr val="374151"/>
              </a:buClr>
              <a:buSzPts val="1150"/>
              <a:buFont typeface="Verdana"/>
              <a:buChar char="●"/>
            </a:pPr>
            <a:r>
              <a:rPr lang="en" sz="1150">
                <a:solidFill>
                  <a:srgbClr val="374151"/>
                </a:solidFill>
                <a:highlight>
                  <a:srgbClr val="FFFFFF"/>
                </a:highlight>
                <a:latin typeface="Verdana"/>
                <a:ea typeface="Verdana"/>
                <a:cs typeface="Verdana"/>
                <a:sym typeface="Verdana"/>
              </a:rPr>
              <a:t>In a roulette wheel selection, the circular wheel is divided as described before. A fixed point is chosen on the wheel circumference as shown and the wheel is rotated. The region of the wheel which comes in front of the fixed point is chosen as the parent. For the second parent, the same process is repeated</a:t>
            </a:r>
            <a:endParaRPr sz="1150">
              <a:solidFill>
                <a:srgbClr val="374151"/>
              </a:solidFill>
              <a:highlight>
                <a:srgbClr val="FFFFFF"/>
              </a:highlight>
              <a:latin typeface="Verdana"/>
              <a:ea typeface="Verdana"/>
              <a:cs typeface="Verdana"/>
              <a:sym typeface="Verdana"/>
            </a:endParaRPr>
          </a:p>
          <a:p>
            <a:pPr indent="-301625" lvl="0" marL="457200" rtl="0" algn="l">
              <a:lnSpc>
                <a:spcPct val="115000"/>
              </a:lnSpc>
              <a:spcBef>
                <a:spcPts val="0"/>
              </a:spcBef>
              <a:spcAft>
                <a:spcPts val="0"/>
              </a:spcAft>
              <a:buClr>
                <a:srgbClr val="374151"/>
              </a:buClr>
              <a:buSzPts val="1150"/>
              <a:buFont typeface="Verdana"/>
              <a:buChar char="●"/>
            </a:pPr>
            <a:r>
              <a:rPr lang="en" sz="1150">
                <a:solidFill>
                  <a:srgbClr val="374151"/>
                </a:solidFill>
                <a:highlight>
                  <a:srgbClr val="FFFFFF"/>
                </a:highlight>
                <a:latin typeface="Verdana"/>
                <a:ea typeface="Verdana"/>
                <a:cs typeface="Verdana"/>
                <a:sym typeface="Verdana"/>
              </a:rPr>
              <a:t>A fitter individual has a greater pie on the wheel and therefore a greater chance of landing in front of the fixed point when the wheel is rotated. Therefore, the probability of choosing an individual depends directly on its fitness.</a:t>
            </a:r>
            <a:r>
              <a:rPr lang="en" sz="1100"/>
              <a:t> [1]</a:t>
            </a:r>
            <a:endParaRPr sz="1300">
              <a:solidFill>
                <a:schemeClr val="dk2"/>
              </a:solidFill>
              <a:latin typeface="Nunito"/>
              <a:ea typeface="Nunito"/>
              <a:cs typeface="Nunito"/>
              <a:sym typeface="Nunito"/>
            </a:endParaRPr>
          </a:p>
        </p:txBody>
      </p:sp>
      <p:sp>
        <p:nvSpPr>
          <p:cNvPr id="402" name="Google Shape;402;p30"/>
          <p:cNvSpPr txBox="1"/>
          <p:nvPr/>
        </p:nvSpPr>
        <p:spPr>
          <a:xfrm>
            <a:off x="6911125" y="517175"/>
            <a:ext cx="1955400" cy="41340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rgbClr val="374151"/>
                </a:solidFill>
                <a:highlight>
                  <a:srgbClr val="FFFFFF"/>
                </a:highlight>
                <a:latin typeface="Verdana"/>
                <a:ea typeface="Verdana"/>
                <a:cs typeface="Verdana"/>
                <a:sym typeface="Verdana"/>
              </a:rPr>
              <a:t>Implementation wise</a:t>
            </a:r>
            <a:r>
              <a:rPr lang="en" sz="1000"/>
              <a:t> :</a:t>
            </a:r>
            <a:endParaRPr sz="1000"/>
          </a:p>
          <a:p>
            <a:pPr indent="-295275" lvl="0" marL="457200" rtl="0" algn="l">
              <a:lnSpc>
                <a:spcPct val="156521"/>
              </a:lnSpc>
              <a:spcBef>
                <a:spcPts val="0"/>
              </a:spcBef>
              <a:spcAft>
                <a:spcPts val="0"/>
              </a:spcAft>
              <a:buClr>
                <a:srgbClr val="000000"/>
              </a:buClr>
              <a:buSzPts val="1050"/>
              <a:buFont typeface="Verdana"/>
              <a:buChar char="●"/>
            </a:pPr>
            <a:r>
              <a:rPr lang="en" sz="1050">
                <a:latin typeface="Verdana"/>
                <a:ea typeface="Verdana"/>
                <a:cs typeface="Verdana"/>
                <a:sym typeface="Verdana"/>
              </a:rPr>
              <a:t>Calculate S = the sum of a finesses.</a:t>
            </a:r>
            <a:endParaRPr sz="1050">
              <a:latin typeface="Verdana"/>
              <a:ea typeface="Verdana"/>
              <a:cs typeface="Verdana"/>
              <a:sym typeface="Verdana"/>
            </a:endParaRPr>
          </a:p>
          <a:p>
            <a:pPr indent="-295275" lvl="0" marL="457200" rtl="0" algn="l">
              <a:lnSpc>
                <a:spcPct val="156521"/>
              </a:lnSpc>
              <a:spcBef>
                <a:spcPts val="0"/>
              </a:spcBef>
              <a:spcAft>
                <a:spcPts val="0"/>
              </a:spcAft>
              <a:buClr>
                <a:srgbClr val="000000"/>
              </a:buClr>
              <a:buSzPts val="1050"/>
              <a:buFont typeface="Verdana"/>
              <a:buChar char="●"/>
            </a:pPr>
            <a:r>
              <a:rPr lang="en" sz="1050">
                <a:latin typeface="Verdana"/>
                <a:ea typeface="Verdana"/>
                <a:cs typeface="Verdana"/>
                <a:sym typeface="Verdana"/>
              </a:rPr>
              <a:t>Generate a random number between 0 and S.</a:t>
            </a:r>
            <a:endParaRPr sz="1050">
              <a:latin typeface="Verdana"/>
              <a:ea typeface="Verdana"/>
              <a:cs typeface="Verdana"/>
              <a:sym typeface="Verdana"/>
            </a:endParaRPr>
          </a:p>
          <a:p>
            <a:pPr indent="-295275" lvl="0" marL="457200" rtl="0" algn="l">
              <a:lnSpc>
                <a:spcPct val="156521"/>
              </a:lnSpc>
              <a:spcBef>
                <a:spcPts val="0"/>
              </a:spcBef>
              <a:spcAft>
                <a:spcPts val="0"/>
              </a:spcAft>
              <a:buClr>
                <a:srgbClr val="000000"/>
              </a:buClr>
              <a:buSzPts val="1050"/>
              <a:buFont typeface="Verdana"/>
              <a:buChar char="●"/>
            </a:pPr>
            <a:r>
              <a:rPr lang="en" sz="1050">
                <a:latin typeface="Verdana"/>
                <a:ea typeface="Verdana"/>
                <a:cs typeface="Verdana"/>
                <a:sym typeface="Verdana"/>
              </a:rPr>
              <a:t>Starting from the top of the population, keep adding the finesses to the partial sum P, till P&lt;S.</a:t>
            </a:r>
            <a:endParaRPr sz="1050">
              <a:latin typeface="Verdana"/>
              <a:ea typeface="Verdana"/>
              <a:cs typeface="Verdana"/>
              <a:sym typeface="Verdana"/>
            </a:endParaRPr>
          </a:p>
          <a:p>
            <a:pPr indent="-295275" lvl="0" marL="457200" rtl="0" algn="l">
              <a:lnSpc>
                <a:spcPct val="156521"/>
              </a:lnSpc>
              <a:spcBef>
                <a:spcPts val="0"/>
              </a:spcBef>
              <a:spcAft>
                <a:spcPts val="0"/>
              </a:spcAft>
              <a:buClr>
                <a:srgbClr val="000000"/>
              </a:buClr>
              <a:buSzPts val="1050"/>
              <a:buFont typeface="Verdana"/>
              <a:buChar char="●"/>
            </a:pPr>
            <a:r>
              <a:rPr lang="en" sz="1050">
                <a:latin typeface="Verdana"/>
                <a:ea typeface="Verdana"/>
                <a:cs typeface="Verdana"/>
                <a:sym typeface="Verdana"/>
              </a:rPr>
              <a:t>The individual for which P exceeds S is the chosen individual.</a:t>
            </a:r>
            <a:endParaRPr sz="1050">
              <a:latin typeface="Verdana"/>
              <a:ea typeface="Verdana"/>
              <a:cs typeface="Verdana"/>
              <a:sym typeface="Verdana"/>
            </a:endParaRPr>
          </a:p>
          <a:p>
            <a:pPr indent="0" lvl="0" marL="0" rtl="0" algn="l">
              <a:spcBef>
                <a:spcPts val="1200"/>
              </a:spcBef>
              <a:spcAft>
                <a:spcPts val="0"/>
              </a:spcAft>
              <a:buNone/>
            </a:pPr>
            <a:r>
              <a:t/>
            </a:r>
            <a:endParaRPr sz="1100"/>
          </a:p>
        </p:txBody>
      </p:sp>
      <p:pic>
        <p:nvPicPr>
          <p:cNvPr id="403" name="Google Shape;403;p30"/>
          <p:cNvPicPr preferRelativeResize="0"/>
          <p:nvPr/>
        </p:nvPicPr>
        <p:blipFill>
          <a:blip r:embed="rId4">
            <a:alphaModFix/>
          </a:blip>
          <a:stretch>
            <a:fillRect/>
          </a:stretch>
        </p:blipFill>
        <p:spPr>
          <a:xfrm>
            <a:off x="152400" y="3138550"/>
            <a:ext cx="3323664" cy="1512625"/>
          </a:xfrm>
          <a:prstGeom prst="rect">
            <a:avLst/>
          </a:prstGeom>
          <a:noFill/>
          <a:ln>
            <a:noFill/>
          </a:ln>
        </p:spPr>
      </p:pic>
      <p:sp>
        <p:nvSpPr>
          <p:cNvPr id="404" name="Google Shape;404;p30"/>
          <p:cNvSpPr txBox="1"/>
          <p:nvPr/>
        </p:nvSpPr>
        <p:spPr>
          <a:xfrm>
            <a:off x="396750" y="4768000"/>
            <a:ext cx="2800500" cy="14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 </a:t>
            </a:r>
            <a:r>
              <a:rPr lang="en" sz="1100" u="sng">
                <a:solidFill>
                  <a:schemeClr val="hlink"/>
                </a:solidFill>
                <a:hlinkClick r:id="rId5"/>
              </a:rPr>
              <a:t>Genetic Algorithms - Parent Selection</a:t>
            </a:r>
            <a:r>
              <a:rPr lang="en" sz="1100"/>
              <a:t> </a:t>
            </a:r>
            <a:endParaRPr sz="1300">
              <a:solidFill>
                <a:schemeClr val="dk2"/>
              </a:solidFill>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1"/>
          <p:cNvSpPr txBox="1"/>
          <p:nvPr/>
        </p:nvSpPr>
        <p:spPr>
          <a:xfrm>
            <a:off x="1729000" y="326225"/>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Crossover</a:t>
            </a:r>
            <a:endParaRPr sz="1300">
              <a:solidFill>
                <a:schemeClr val="dk2"/>
              </a:solidFill>
              <a:latin typeface="Nunito"/>
              <a:ea typeface="Nunito"/>
              <a:cs typeface="Nunito"/>
              <a:sym typeface="Nunito"/>
            </a:endParaRPr>
          </a:p>
        </p:txBody>
      </p:sp>
      <p:pic>
        <p:nvPicPr>
          <p:cNvPr id="410" name="Google Shape;410;p31"/>
          <p:cNvPicPr preferRelativeResize="0"/>
          <p:nvPr/>
        </p:nvPicPr>
        <p:blipFill>
          <a:blip r:embed="rId3">
            <a:alphaModFix/>
          </a:blip>
          <a:stretch>
            <a:fillRect/>
          </a:stretch>
        </p:blipFill>
        <p:spPr>
          <a:xfrm>
            <a:off x="978825" y="1091875"/>
            <a:ext cx="3838575" cy="923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2"/>
          <p:cNvSpPr txBox="1"/>
          <p:nvPr/>
        </p:nvSpPr>
        <p:spPr>
          <a:xfrm>
            <a:off x="634325" y="322600"/>
            <a:ext cx="4556400" cy="82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Mutation</a:t>
            </a:r>
            <a:endParaRPr sz="1300">
              <a:solidFill>
                <a:schemeClr val="dk2"/>
              </a:solidFill>
              <a:latin typeface="Nunito"/>
              <a:ea typeface="Nunito"/>
              <a:cs typeface="Nunito"/>
              <a:sym typeface="Nunito"/>
            </a:endParaRPr>
          </a:p>
        </p:txBody>
      </p:sp>
      <p:pic>
        <p:nvPicPr>
          <p:cNvPr id="416" name="Google Shape;416;p32"/>
          <p:cNvPicPr preferRelativeResize="0"/>
          <p:nvPr/>
        </p:nvPicPr>
        <p:blipFill>
          <a:blip r:embed="rId3">
            <a:alphaModFix/>
          </a:blip>
          <a:stretch>
            <a:fillRect/>
          </a:stretch>
        </p:blipFill>
        <p:spPr>
          <a:xfrm>
            <a:off x="359000" y="1149100"/>
            <a:ext cx="4067175" cy="1238250"/>
          </a:xfrm>
          <a:prstGeom prst="rect">
            <a:avLst/>
          </a:prstGeom>
          <a:noFill/>
          <a:ln>
            <a:noFill/>
          </a:ln>
        </p:spPr>
      </p:pic>
      <p:sp>
        <p:nvSpPr>
          <p:cNvPr id="417" name="Google Shape;417;p32"/>
          <p:cNvSpPr txBox="1"/>
          <p:nvPr/>
        </p:nvSpPr>
        <p:spPr>
          <a:xfrm>
            <a:off x="5190725" y="39300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32352"/>
              </a:lnSpc>
              <a:spcBef>
                <a:spcPts val="1800"/>
              </a:spcBef>
              <a:spcAft>
                <a:spcPts val="400"/>
              </a:spcAft>
              <a:buNone/>
            </a:pPr>
            <a:r>
              <a:rPr lang="en" sz="1100">
                <a:solidFill>
                  <a:srgbClr val="1E293B"/>
                </a:solidFill>
                <a:highlight>
                  <a:srgbClr val="FFFFFF"/>
                </a:highlight>
                <a:latin typeface="Verdana"/>
                <a:ea typeface="Verdana"/>
                <a:cs typeface="Verdana"/>
                <a:sym typeface="Verdana"/>
              </a:rPr>
              <a:t>Mutation Operators</a:t>
            </a:r>
            <a:endParaRPr sz="1100">
              <a:solidFill>
                <a:srgbClr val="1E293B"/>
              </a:solidFill>
              <a:highlight>
                <a:srgbClr val="FFFFFF"/>
              </a:highlight>
              <a:latin typeface="Verdana"/>
              <a:ea typeface="Verdana"/>
              <a:cs typeface="Verdana"/>
              <a:sym typeface="Verdana"/>
            </a:endParaRPr>
          </a:p>
        </p:txBody>
      </p:sp>
      <p:sp>
        <p:nvSpPr>
          <p:cNvPr id="418" name="Google Shape;418;p32"/>
          <p:cNvSpPr txBox="1"/>
          <p:nvPr/>
        </p:nvSpPr>
        <p:spPr>
          <a:xfrm>
            <a:off x="5184875" y="891450"/>
            <a:ext cx="3342900" cy="21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374151"/>
                </a:solidFill>
                <a:highlight>
                  <a:srgbClr val="FFFFFF"/>
                </a:highlight>
                <a:latin typeface="Verdana"/>
                <a:ea typeface="Verdana"/>
                <a:cs typeface="Verdana"/>
                <a:sym typeface="Verdana"/>
              </a:rPr>
              <a:t>In this bit flip mutation, we select one or more random bits and flip them. This is used for binary encoded GAs.</a:t>
            </a:r>
            <a:r>
              <a:rPr lang="en"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pic>
        <p:nvPicPr>
          <p:cNvPr id="419" name="Google Shape;419;p32"/>
          <p:cNvPicPr preferRelativeResize="0"/>
          <p:nvPr/>
        </p:nvPicPr>
        <p:blipFill>
          <a:blip r:embed="rId4">
            <a:alphaModFix/>
          </a:blip>
          <a:stretch>
            <a:fillRect/>
          </a:stretch>
        </p:blipFill>
        <p:spPr>
          <a:xfrm>
            <a:off x="5080675" y="1858975"/>
            <a:ext cx="3447100" cy="308175"/>
          </a:xfrm>
          <a:prstGeom prst="rect">
            <a:avLst/>
          </a:prstGeom>
          <a:noFill/>
          <a:ln>
            <a:noFill/>
          </a:ln>
        </p:spPr>
      </p:pic>
      <p:sp>
        <p:nvSpPr>
          <p:cNvPr id="420" name="Google Shape;420;p32"/>
          <p:cNvSpPr txBox="1"/>
          <p:nvPr/>
        </p:nvSpPr>
        <p:spPr>
          <a:xfrm>
            <a:off x="5317075" y="2483200"/>
            <a:ext cx="2873700" cy="6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50">
                <a:solidFill>
                  <a:srgbClr val="374151"/>
                </a:solidFill>
                <a:highlight>
                  <a:srgbClr val="FFFFFF"/>
                </a:highlight>
                <a:latin typeface="Verdana"/>
                <a:ea typeface="Verdana"/>
                <a:cs typeface="Verdana"/>
                <a:sym typeface="Verdana"/>
              </a:rPr>
              <a:t>Random Resetting is an extension of the bit flip for the integer representation. In this, a random value from the set of permissible values is assigned to a randomly chosen gene.</a:t>
            </a:r>
            <a:r>
              <a:rPr lang="en" sz="1100"/>
              <a:t>  [2]</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[2]</a:t>
            </a:r>
            <a:r>
              <a:rPr lang="en" sz="1100" u="sng">
                <a:solidFill>
                  <a:schemeClr val="hlink"/>
                </a:solidFill>
                <a:hlinkClick r:id="rId5"/>
              </a:rPr>
              <a:t>Genetic Algorithms - Mutation</a:t>
            </a:r>
            <a:r>
              <a:rPr lang="en" sz="1100"/>
              <a:t> </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3"/>
          <p:cNvSpPr txBox="1"/>
          <p:nvPr/>
        </p:nvSpPr>
        <p:spPr>
          <a:xfrm>
            <a:off x="0" y="0"/>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Evolution</a:t>
            </a:r>
            <a:endParaRPr sz="1300">
              <a:solidFill>
                <a:schemeClr val="dk2"/>
              </a:solidFill>
              <a:latin typeface="Nunito"/>
              <a:ea typeface="Nunito"/>
              <a:cs typeface="Nunito"/>
              <a:sym typeface="Nunito"/>
            </a:endParaRPr>
          </a:p>
        </p:txBody>
      </p:sp>
      <p:pic>
        <p:nvPicPr>
          <p:cNvPr id="426" name="Google Shape;426;p33"/>
          <p:cNvPicPr preferRelativeResize="0"/>
          <p:nvPr/>
        </p:nvPicPr>
        <p:blipFill>
          <a:blip r:embed="rId3">
            <a:alphaModFix/>
          </a:blip>
          <a:stretch>
            <a:fillRect/>
          </a:stretch>
        </p:blipFill>
        <p:spPr>
          <a:xfrm>
            <a:off x="152400" y="537300"/>
            <a:ext cx="3724275" cy="3238500"/>
          </a:xfrm>
          <a:prstGeom prst="rect">
            <a:avLst/>
          </a:prstGeom>
          <a:noFill/>
          <a:ln>
            <a:noFill/>
          </a:ln>
        </p:spPr>
      </p:pic>
      <p:sp>
        <p:nvSpPr>
          <p:cNvPr id="427" name="Google Shape;427;p33"/>
          <p:cNvSpPr txBox="1"/>
          <p:nvPr/>
        </p:nvSpPr>
        <p:spPr>
          <a:xfrm>
            <a:off x="4572000" y="138950"/>
            <a:ext cx="3814800" cy="1091400"/>
          </a:xfrm>
          <a:prstGeom prst="rect">
            <a:avLst/>
          </a:prstGeom>
          <a:noFill/>
          <a:ln>
            <a:noFill/>
          </a:ln>
        </p:spPr>
        <p:txBody>
          <a:bodyPr anchorCtr="0" anchor="t" bIns="91425" lIns="91425" spcFirstLastPara="1" rIns="91425" wrap="square" tIns="91425">
            <a:noAutofit/>
          </a:bodyPr>
          <a:lstStyle/>
          <a:p>
            <a:pPr indent="0" lvl="0" marL="0" rtl="0" algn="l">
              <a:lnSpc>
                <a:spcPct val="132352"/>
              </a:lnSpc>
              <a:spcBef>
                <a:spcPts val="1800"/>
              </a:spcBef>
              <a:spcAft>
                <a:spcPts val="0"/>
              </a:spcAft>
              <a:buNone/>
            </a:pPr>
            <a:r>
              <a:rPr lang="en" sz="1700">
                <a:solidFill>
                  <a:srgbClr val="1E293B"/>
                </a:solidFill>
                <a:highlight>
                  <a:srgbClr val="FFFFFF"/>
                </a:highlight>
                <a:latin typeface="Verdana"/>
                <a:ea typeface="Verdana"/>
                <a:cs typeface="Verdana"/>
                <a:sym typeface="Verdana"/>
              </a:rPr>
              <a:t>Fitness Based Selection</a:t>
            </a:r>
            <a:endParaRPr sz="1700">
              <a:solidFill>
                <a:srgbClr val="1E293B"/>
              </a:solidFill>
              <a:highlight>
                <a:srgbClr val="FFFFFF"/>
              </a:highlight>
              <a:latin typeface="Verdana"/>
              <a:ea typeface="Verdana"/>
              <a:cs typeface="Verdana"/>
              <a:sym typeface="Verdana"/>
            </a:endParaRPr>
          </a:p>
          <a:p>
            <a:pPr indent="0" lvl="0" marL="0" rtl="0" algn="l">
              <a:spcBef>
                <a:spcPts val="400"/>
              </a:spcBef>
              <a:spcAft>
                <a:spcPts val="0"/>
              </a:spcAft>
              <a:buNone/>
            </a:pPr>
            <a:r>
              <a:rPr lang="en" sz="1150">
                <a:solidFill>
                  <a:srgbClr val="374151"/>
                </a:solidFill>
                <a:highlight>
                  <a:srgbClr val="FFFFFF"/>
                </a:highlight>
                <a:latin typeface="Verdana"/>
                <a:ea typeface="Verdana"/>
                <a:cs typeface="Verdana"/>
                <a:sym typeface="Verdana"/>
              </a:rPr>
              <a:t>In this fitness based selection, the children tend to replace the least fit individuals in the population. The selection of the least fit individuals may be done using a variation of any of the selection policies described before tournament selection, fitness proportionate selection, etc.</a:t>
            </a:r>
            <a:r>
              <a:rPr lang="en"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50">
                <a:solidFill>
                  <a:srgbClr val="374151"/>
                </a:solidFill>
                <a:highlight>
                  <a:srgbClr val="FFFFFF"/>
                </a:highlight>
                <a:latin typeface="Verdana"/>
                <a:ea typeface="Verdana"/>
                <a:cs typeface="Verdana"/>
                <a:sym typeface="Verdana"/>
              </a:rPr>
              <a:t>For example, in the following image, the children replace the least fit individuals P1 and P10 of the population. It is to be noted that since P1 and P9 have the same fitness value, the decision to remove which individual from the population is arbitrary</a:t>
            </a:r>
            <a:r>
              <a:rPr lang="en" sz="1100"/>
              <a:t> [3]</a:t>
            </a:r>
            <a:endParaRPr sz="1100"/>
          </a:p>
        </p:txBody>
      </p:sp>
      <p:pic>
        <p:nvPicPr>
          <p:cNvPr id="428" name="Google Shape;428;p33"/>
          <p:cNvPicPr preferRelativeResize="0"/>
          <p:nvPr/>
        </p:nvPicPr>
        <p:blipFill>
          <a:blip r:embed="rId4">
            <a:alphaModFix/>
          </a:blip>
          <a:stretch>
            <a:fillRect/>
          </a:stretch>
        </p:blipFill>
        <p:spPr>
          <a:xfrm>
            <a:off x="4572001" y="3219999"/>
            <a:ext cx="2943749" cy="1439375"/>
          </a:xfrm>
          <a:prstGeom prst="rect">
            <a:avLst/>
          </a:prstGeom>
          <a:noFill/>
          <a:ln>
            <a:noFill/>
          </a:ln>
        </p:spPr>
      </p:pic>
      <p:sp>
        <p:nvSpPr>
          <p:cNvPr id="429" name="Google Shape;429;p33"/>
          <p:cNvSpPr txBox="1"/>
          <p:nvPr/>
        </p:nvSpPr>
        <p:spPr>
          <a:xfrm>
            <a:off x="5019500" y="4659375"/>
            <a:ext cx="35175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 </a:t>
            </a:r>
            <a:r>
              <a:rPr lang="en" sz="1100" u="sng">
                <a:solidFill>
                  <a:schemeClr val="hlink"/>
                </a:solidFill>
                <a:hlinkClick r:id="rId5"/>
              </a:rPr>
              <a:t>Genetic Algorithms - Survivor Selection</a:t>
            </a:r>
            <a:r>
              <a:rPr lang="en" sz="1100"/>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4"/>
          <p:cNvSpPr txBox="1"/>
          <p:nvPr/>
        </p:nvSpPr>
        <p:spPr>
          <a:xfrm>
            <a:off x="449475" y="170350"/>
            <a:ext cx="2914200" cy="9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Nunito"/>
                <a:ea typeface="Nunito"/>
                <a:cs typeface="Nunito"/>
                <a:sym typeface="Nunito"/>
              </a:rPr>
              <a:t>Result</a:t>
            </a:r>
            <a:endParaRPr sz="1300">
              <a:solidFill>
                <a:schemeClr val="dk2"/>
              </a:solidFill>
              <a:latin typeface="Nunito"/>
              <a:ea typeface="Nunito"/>
              <a:cs typeface="Nunito"/>
              <a:sym typeface="Nunito"/>
            </a:endParaRPr>
          </a:p>
        </p:txBody>
      </p:sp>
      <p:pic>
        <p:nvPicPr>
          <p:cNvPr id="435" name="Google Shape;435;p34"/>
          <p:cNvPicPr preferRelativeResize="0"/>
          <p:nvPr/>
        </p:nvPicPr>
        <p:blipFill>
          <a:blip r:embed="rId3">
            <a:alphaModFix/>
          </a:blip>
          <a:stretch>
            <a:fillRect/>
          </a:stretch>
        </p:blipFill>
        <p:spPr>
          <a:xfrm>
            <a:off x="732525" y="669750"/>
            <a:ext cx="3625922" cy="3711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35"/>
          <p:cNvPicPr preferRelativeResize="0"/>
          <p:nvPr/>
        </p:nvPicPr>
        <p:blipFill>
          <a:blip r:embed="rId3">
            <a:alphaModFix/>
          </a:blip>
          <a:stretch>
            <a:fillRect/>
          </a:stretch>
        </p:blipFill>
        <p:spPr>
          <a:xfrm>
            <a:off x="439175" y="1307824"/>
            <a:ext cx="8265651" cy="2608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DAABA9663D564FB24E0C7E0D61A277" ma:contentTypeVersion="10" ma:contentTypeDescription="Create a new document." ma:contentTypeScope="" ma:versionID="45bfabd63daae6cbe169e7731327b841">
  <xsd:schema xmlns:xsd="http://www.w3.org/2001/XMLSchema" xmlns:xs="http://www.w3.org/2001/XMLSchema" xmlns:p="http://schemas.microsoft.com/office/2006/metadata/properties" xmlns:ns2="6afe6c92-b842-4b46-97cb-c9d3f56c8253" xmlns:ns3="362d3066-f8a9-43b2-a8f3-7536f1dd64c2" targetNamespace="http://schemas.microsoft.com/office/2006/metadata/properties" ma:root="true" ma:fieldsID="6c81a8a920d1a5891268a4ad502783fc" ns2:_="" ns3:_="">
    <xsd:import namespace="6afe6c92-b842-4b46-97cb-c9d3f56c8253"/>
    <xsd:import namespace="362d3066-f8a9-43b2-a8f3-7536f1dd64c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fe6c92-b842-4b46-97cb-c9d3f56c82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f566ec5-32a6-4ec1-8c14-5dab5ced459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62d3066-f8a9-43b2-a8f3-7536f1dd64c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7c2aa59-43c1-4590-ac0f-3e0651f50def}" ma:internalName="TaxCatchAll" ma:showField="CatchAllData" ma:web="362d3066-f8a9-43b2-a8f3-7536f1dd64c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afe6c92-b842-4b46-97cb-c9d3f56c8253">
      <Terms xmlns="http://schemas.microsoft.com/office/infopath/2007/PartnerControls"/>
    </lcf76f155ced4ddcb4097134ff3c332f>
    <TaxCatchAll xmlns="362d3066-f8a9-43b2-a8f3-7536f1dd64c2" xsi:nil="true"/>
  </documentManagement>
</p:properties>
</file>

<file path=customXml/itemProps1.xml><?xml version="1.0" encoding="utf-8"?>
<ds:datastoreItem xmlns:ds="http://schemas.openxmlformats.org/officeDocument/2006/customXml" ds:itemID="{892DA712-BD77-4043-B601-61C7DE1F3752}"/>
</file>

<file path=customXml/itemProps2.xml><?xml version="1.0" encoding="utf-8"?>
<ds:datastoreItem xmlns:ds="http://schemas.openxmlformats.org/officeDocument/2006/customXml" ds:itemID="{DBDA536B-4871-48E3-9392-ECA45BDCFEDC}"/>
</file>

<file path=customXml/itemProps3.xml><?xml version="1.0" encoding="utf-8"?>
<ds:datastoreItem xmlns:ds="http://schemas.openxmlformats.org/officeDocument/2006/customXml" ds:itemID="{45D43766-73D6-4429-88FC-05C4762230E2}"/>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0x010100CADAABA9663D564FB24E0C7E0D61A277</vt:lpwstr>
  </property>
</Properties>
</file>